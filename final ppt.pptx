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3" r:id="rId1"/>
  </p:sldMasterIdLst>
  <p:notesMasterIdLst>
    <p:notesMasterId r:id="rId17"/>
  </p:notesMasterIdLst>
  <p:sldIdLst>
    <p:sldId id="260" r:id="rId2"/>
    <p:sldId id="4422" r:id="rId3"/>
    <p:sldId id="4423" r:id="rId4"/>
    <p:sldId id="4424" r:id="rId5"/>
    <p:sldId id="4425" r:id="rId6"/>
    <p:sldId id="4426" r:id="rId7"/>
    <p:sldId id="4427" r:id="rId8"/>
    <p:sldId id="4428" r:id="rId9"/>
    <p:sldId id="4429" r:id="rId10"/>
    <p:sldId id="4430" r:id="rId11"/>
    <p:sldId id="4431" r:id="rId12"/>
    <p:sldId id="4432" r:id="rId13"/>
    <p:sldId id="4433" r:id="rId14"/>
    <p:sldId id="4434" r:id="rId15"/>
    <p:sldId id="443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8" d="100"/>
          <a:sy n="58" d="100"/>
        </p:scale>
        <p:origin x="9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58055-B06D-F4F2-0C86-5B52BF6B01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A4CC17-9D85-FEA0-4F48-20A7F82EC7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82C4F1-B347-B479-AFD4-99396E8754A9}"/>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2ACAA7A3-2C90-D3D4-C4BC-47B69DD0F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3A625-04C2-5752-FA36-AFD31066EAB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15089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E722-32B7-5D4A-2A58-0DAB9DC4B4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07D866-E2A7-00A4-EE32-9AD8F49E3B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D63814-6AAD-D739-245E-1AB46AD9CDEB}"/>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E326463B-A5FA-7B5A-3DDC-06305035A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512D-A77B-24D6-5094-7400D9FFC51D}"/>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025447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62975-1C37-9572-C55C-1C83447F98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8C6336-50ED-5EEB-F95F-8E8F805EE4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FB3F60-91F2-8CFF-848C-DA1A8306C469}"/>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A057B7CB-AD30-51F8-06D2-A56628BEA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D3FAB-09FF-BC57-6CAA-F1BD4CC5C30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896949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6B7C-61B5-0FC1-E87F-C12A986464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5A23A5-35A7-7395-485E-10E91F2ACA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6D1B2C-4FDB-62B2-D3D1-ADAD51C7E1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B9A2BB-F464-D823-D0E2-F56B64E7726E}"/>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7BB1D822-B5F8-B11B-3669-63DA245DF9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F05185-BCD6-9079-F267-70CE170CA5C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814774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E81D-AC1A-4C1D-F54D-31EC596EC0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747AE2-92D3-DDCF-976E-7AC6BB4B0C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FBE495-108A-9129-692A-07BF416A1C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7660DB-A03D-6436-AB8F-60B3710CD2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2FC6DA-181A-4439-173E-9A90969244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236766-0EB4-7C83-C3B3-07F53DBE5B65}"/>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8" name="Footer Placeholder 7">
            <a:extLst>
              <a:ext uri="{FF2B5EF4-FFF2-40B4-BE49-F238E27FC236}">
                <a16:creationId xmlns:a16="http://schemas.microsoft.com/office/drawing/2014/main" id="{C43DA19F-5156-495D-E2C7-04F02BD49E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882068-AD5C-EBFB-C742-5E865397A37D}"/>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528612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D079C-1772-F5F7-9F40-2F9B59361E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B99B87-4F6C-C298-A7C4-DA39B7EC2B19}"/>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4" name="Footer Placeholder 3">
            <a:extLst>
              <a:ext uri="{FF2B5EF4-FFF2-40B4-BE49-F238E27FC236}">
                <a16:creationId xmlns:a16="http://schemas.microsoft.com/office/drawing/2014/main" id="{14DD3D8D-A117-EF75-C239-64BA951FCF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DA9FB0-D9CB-6777-13CE-9A79C0E22BF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966452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1DFD20-54D9-4DEE-24B1-32AC18075D87}"/>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3" name="Footer Placeholder 2">
            <a:extLst>
              <a:ext uri="{FF2B5EF4-FFF2-40B4-BE49-F238E27FC236}">
                <a16:creationId xmlns:a16="http://schemas.microsoft.com/office/drawing/2014/main" id="{E5EC0441-10BE-4F53-3BE3-3819F89AC0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2909E7-9012-D7FA-43B9-6884EB5DE4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11424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41038-0815-944E-5119-EE1A01C4B0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87EAAE-9697-6587-EA32-329504B31F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2B8286-D8B6-57C6-5B08-2FD3C8D26D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949EC-3FB3-3098-1EF3-DCB894AB1217}"/>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E63CD2F5-0B3A-E735-6906-E3ECF361D2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895022-85D2-F346-7121-166178F4D79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04117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4C880-A3A8-1E78-E577-1FE7CA928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F01C7B-E1FC-DF6B-8169-CAA1FF3A35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90C0E7-AC12-3E3B-4D18-724EC8FCD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A3B96A-6D05-9CC3-0DAC-7D98887A31EE}"/>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5542CF4B-579C-9F04-7D0B-9A6E55C080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6D74C-2468-121C-9035-E480421EE03A}"/>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510735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59231-00EE-29ED-C70A-A95D4FE475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6F9684-571A-78B0-8B28-84FF0E4971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0A54A6-4A70-2307-7C47-2B1D5D108E30}"/>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EAC0FE8F-3DC9-E470-A160-18ACFAD33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CD91E8-D14D-6B6C-4D5C-EC42FC3DF66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559410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BADB0E-A387-6703-4565-F50712B4C9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DB798B-C778-D97D-1BC5-07677C2F4D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29E666-29B7-ECF9-C2BE-70B4F0C88B9C}"/>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8C926C4C-45FC-171C-062D-57037CC0CF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2DF4E5-3A37-DC3A-F56F-912066E68E7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9819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423382-F743-ACA9-EDB5-9E03F83F37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772EE1-11D4-8112-485C-5E7F059241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B04753-65D6-4CB1-6557-81F406590C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EB6D68D5-FA34-472E-AC02-77AB0E4DE3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C7B864-9068-B780-84BE-D3ABF13597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F35010-364B-470B-BB6C-DCBBE63D2E54}" type="slidenum">
              <a:rPr lang="en-US" smtClean="0"/>
              <a:t>‹#›</a:t>
            </a:fld>
            <a:endParaRPr lang="en-US"/>
          </a:p>
        </p:txBody>
      </p:sp>
      <p:sp>
        <p:nvSpPr>
          <p:cNvPr id="7" name="TextBox 6">
            <a:extLst>
              <a:ext uri="{FF2B5EF4-FFF2-40B4-BE49-F238E27FC236}">
                <a16:creationId xmlns:a16="http://schemas.microsoft.com/office/drawing/2014/main" id="{F0C4F4F3-D9F8-0889-79AB-CCCAA1AC2040}"/>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2621453309"/>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25SUB4530_CP_JAVA</a:t>
            </a:r>
          </a:p>
        </p:txBody>
      </p:sp>
      <p:sp>
        <p:nvSpPr>
          <p:cNvPr id="7" name="TextBox 7"/>
          <p:cNvSpPr txBox="1"/>
          <p:nvPr/>
        </p:nvSpPr>
        <p:spPr>
          <a:xfrm>
            <a:off x="366227" y="3275236"/>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9</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&amp; 10</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6780319" cy="857094"/>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Sri Santhosh &amp; Sri Dikshitha</a:t>
            </a:r>
          </a:p>
          <a:p>
            <a:pPr algn="just">
              <a:lnSpc>
                <a:spcPts val="2239"/>
              </a:lnSpc>
              <a:spcBef>
                <a:spcPct val="0"/>
              </a:spcBef>
            </a:pPr>
            <a:endParaRPr lang="en-US" sz="2400" dirty="0">
              <a:solidFill>
                <a:srgbClr val="FFFFFF"/>
              </a:solidFill>
              <a:latin typeface="HK Grotesk" pitchFamily="2" charset="77"/>
            </a:endParaRPr>
          </a:p>
          <a:p>
            <a:pPr algn="just">
              <a:lnSpc>
                <a:spcPts val="2239"/>
              </a:lnSpc>
              <a:spcBef>
                <a:spcPct val="0"/>
              </a:spcBef>
            </a:pPr>
            <a:r>
              <a:rPr lang="en-US" sz="2400" dirty="0">
                <a:solidFill>
                  <a:srgbClr val="FFFFFF"/>
                </a:solidFill>
                <a:latin typeface="HK Grotesk" pitchFamily="2" charset="77"/>
              </a:rPr>
              <a:t>Team - 19 </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6" y="4355385"/>
            <a:ext cx="8270997"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Here -  E-commerce Order Management System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4297203" cy="1100114"/>
          </a:xfrm>
        </p:spPr>
        <p:txBody>
          <a:bodyPr/>
          <a:lstStyle/>
          <a:p>
            <a:r>
              <a:rPr b="1" dirty="0">
                <a:solidFill>
                  <a:srgbClr val="0187CC"/>
                </a:solidFill>
                <a:effectLst>
                  <a:outerShdw blurRad="38100" dist="38100" dir="2700000" algn="tl">
                    <a:srgbClr val="000000">
                      <a:alpha val="43137"/>
                    </a:srgbClr>
                  </a:outerShdw>
                </a:effectLst>
                <a:latin typeface="+mn-lt"/>
              </a:rPr>
              <a:t>Project Overview</a:t>
            </a:r>
          </a:p>
        </p:txBody>
      </p:sp>
      <p:sp>
        <p:nvSpPr>
          <p:cNvPr id="3" name="Content Placeholder 2"/>
          <p:cNvSpPr>
            <a:spLocks noGrp="1"/>
          </p:cNvSpPr>
          <p:nvPr>
            <p:ph idx="1"/>
          </p:nvPr>
        </p:nvSpPr>
        <p:spPr>
          <a:xfrm>
            <a:off x="838199" y="1825624"/>
            <a:ext cx="7204114" cy="4178569"/>
          </a:xfrm>
        </p:spPr>
        <p:txBody>
          <a:bodyPr>
            <a:normAutofit/>
          </a:bodyPr>
          <a:lstStyle/>
          <a:p>
            <a:pPr marL="0" indent="0">
              <a:buNone/>
            </a:pPr>
            <a:endParaRPr sz="2400" b="1" dirty="0">
              <a:solidFill>
                <a:schemeClr val="bg2">
                  <a:lumMod val="10000"/>
                </a:schemeClr>
              </a:solidFill>
              <a:latin typeface="Baskerville Old Face" panose="02020602080505020303" pitchFamily="18" charset="0"/>
              <a:ea typeface="Sans Serif Collection" panose="020B0502040504020204" pitchFamily="34" charset="0"/>
              <a:cs typeface="Sans Serif Collection" panose="020B0502040504020204" pitchFamily="34" charset="0"/>
            </a:endParaRPr>
          </a:p>
          <a:p>
            <a:r>
              <a:rPr sz="2400" dirty="0">
                <a:solidFill>
                  <a:schemeClr val="bg2">
                    <a:lumMod val="10000"/>
                  </a:schemeClr>
                </a:solidFill>
                <a:latin typeface="Segoe UI" panose="020B0502040204020203" pitchFamily="34" charset="0"/>
                <a:ea typeface="Sans Serif Collection" panose="020B0502040504020204" pitchFamily="34" charset="0"/>
                <a:cs typeface="Segoe UI" panose="020B0502040204020203" pitchFamily="34" charset="0"/>
              </a:rPr>
              <a:t>Objective: A full-stack web application designed to manage the end-to-end lifecycle of an e-commerce order, from user registration and product browsing to secure checkout and admin order tracking.</a:t>
            </a:r>
          </a:p>
          <a:p>
            <a:endParaRPr sz="2400" dirty="0">
              <a:solidFill>
                <a:schemeClr val="bg2">
                  <a:lumMod val="10000"/>
                </a:schemeClr>
              </a:solidFill>
              <a:latin typeface="Segoe UI" panose="020B0502040204020203" pitchFamily="34" charset="0"/>
              <a:ea typeface="Sans Serif Collection" panose="020B0502040504020204" pitchFamily="34" charset="0"/>
              <a:cs typeface="Segoe UI" panose="020B0502040204020203" pitchFamily="34" charset="0"/>
            </a:endParaRPr>
          </a:p>
          <a:p>
            <a:r>
              <a:rPr sz="2400" dirty="0">
                <a:solidFill>
                  <a:schemeClr val="bg2">
                    <a:lumMod val="10000"/>
                  </a:schemeClr>
                </a:solidFill>
                <a:latin typeface="Segoe UI" panose="020B0502040204020203" pitchFamily="34" charset="0"/>
                <a:ea typeface="Sans Serif Collection" panose="020B0502040504020204" pitchFamily="34" charset="0"/>
                <a:cs typeface="Segoe UI" panose="020B0502040204020203" pitchFamily="34" charset="0"/>
              </a:rPr>
              <a:t>Key Goal: Implementing a scalable architecture using the Spring ecosystem and Angular framework.</a:t>
            </a:r>
          </a:p>
        </p:txBody>
      </p:sp>
      <p:sp>
        <p:nvSpPr>
          <p:cNvPr id="7" name="Slide Number Placeholder 5">
            <a:extLst>
              <a:ext uri="{FF2B5EF4-FFF2-40B4-BE49-F238E27FC236}">
                <a16:creationId xmlns:a16="http://schemas.microsoft.com/office/drawing/2014/main" id="{B735E469-BB50-5B24-E1DE-EBA461572CDB}"/>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pic>
        <p:nvPicPr>
          <p:cNvPr id="4" name="Content Placeholder 3" descr="Logo&#10;&#10;Description automatically generated">
            <a:extLst>
              <a:ext uri="{FF2B5EF4-FFF2-40B4-BE49-F238E27FC236}">
                <a16:creationId xmlns:a16="http://schemas.microsoft.com/office/drawing/2014/main" id="{BBC22000-58A4-E3CD-53C2-CDEC9F595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25" y="6358167"/>
            <a:ext cx="763175" cy="499833"/>
          </a:xfrm>
          <a:prstGeom prst="rect">
            <a:avLst/>
          </a:prstGeom>
        </p:spPr>
      </p:pic>
      <p:sp>
        <p:nvSpPr>
          <p:cNvPr id="6" name="TextBox 5">
            <a:extLst>
              <a:ext uri="{FF2B5EF4-FFF2-40B4-BE49-F238E27FC236}">
                <a16:creationId xmlns:a16="http://schemas.microsoft.com/office/drawing/2014/main" id="{24F994BC-7CC6-DCFF-EA09-C22BA5B1E06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pic>
        <p:nvPicPr>
          <p:cNvPr id="8" name="Picture 7">
            <a:extLst>
              <a:ext uri="{FF2B5EF4-FFF2-40B4-BE49-F238E27FC236}">
                <a16:creationId xmlns:a16="http://schemas.microsoft.com/office/drawing/2014/main" id="{6E3F8CFA-196A-2A27-A7CD-B23C7EDF4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4822" y="1271440"/>
            <a:ext cx="3739555" cy="1834719"/>
          </a:xfrm>
          <a:prstGeom prst="rect">
            <a:avLst/>
          </a:prstGeom>
        </p:spPr>
      </p:pic>
      <p:pic>
        <p:nvPicPr>
          <p:cNvPr id="9" name="Picture 8">
            <a:extLst>
              <a:ext uri="{FF2B5EF4-FFF2-40B4-BE49-F238E27FC236}">
                <a16:creationId xmlns:a16="http://schemas.microsoft.com/office/drawing/2014/main" id="{91B5B788-5C12-21EA-69F8-9A849A379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4821" y="3429000"/>
            <a:ext cx="3739555" cy="17155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latin typeface="+mn-lt"/>
              </a:rPr>
              <a:t>Technology Stack</a:t>
            </a:r>
          </a:p>
        </p:txBody>
      </p:sp>
      <p:sp>
        <p:nvSpPr>
          <p:cNvPr id="3" name="Content Placeholder 2"/>
          <p:cNvSpPr>
            <a:spLocks noGrp="1"/>
          </p:cNvSpPr>
          <p:nvPr>
            <p:ph idx="1"/>
          </p:nvPr>
        </p:nvSpPr>
        <p:spPr>
          <a:xfrm>
            <a:off x="838200" y="1825625"/>
            <a:ext cx="6377848" cy="4057382"/>
          </a:xfrm>
        </p:spPr>
        <p:txBody>
          <a:bodyPr>
            <a:normAutofit/>
          </a:bodyPr>
          <a:lstStyle/>
          <a:p>
            <a:pPr marL="0" indent="0">
              <a:buNone/>
            </a:pPr>
            <a:r>
              <a:rPr lang="en-US" sz="2000" b="1" dirty="0"/>
              <a:t>Tools Used to Build the System</a:t>
            </a:r>
            <a:endParaRPr lang="en-US" sz="2000" b="1" dirty="0">
              <a:solidFill>
                <a:schemeClr val="bg2">
                  <a:lumMod val="10000"/>
                </a:schemeClr>
              </a:solidFill>
              <a:latin typeface="Segoe UI" panose="020B0502040204020203" pitchFamily="34" charset="0"/>
              <a:cs typeface="Segoe UI" panose="020B0502040204020203" pitchFamily="34" charset="0"/>
            </a:endParaRPr>
          </a:p>
          <a:p>
            <a:r>
              <a:rPr sz="2000" dirty="0">
                <a:solidFill>
                  <a:schemeClr val="bg2">
                    <a:lumMod val="10000"/>
                  </a:schemeClr>
                </a:solidFill>
                <a:latin typeface="Segoe UI" panose="020B0502040204020203" pitchFamily="34" charset="0"/>
                <a:cs typeface="Segoe UI" panose="020B0502040204020203" pitchFamily="34" charset="0"/>
              </a:rPr>
              <a:t>Frontend: Angular 17+ (TypeScript, HTML/CSS, </a:t>
            </a:r>
            <a:r>
              <a:rPr sz="2000" dirty="0" err="1">
                <a:solidFill>
                  <a:schemeClr val="bg2">
                    <a:lumMod val="10000"/>
                  </a:schemeClr>
                </a:solidFill>
                <a:latin typeface="Segoe UI" panose="020B0502040204020203" pitchFamily="34" charset="0"/>
                <a:cs typeface="Segoe UI" panose="020B0502040204020203" pitchFamily="34" charset="0"/>
              </a:rPr>
              <a:t>RxJS</a:t>
            </a:r>
            <a:r>
              <a:rPr sz="2000" dirty="0">
                <a:solidFill>
                  <a:schemeClr val="bg2">
                    <a:lumMod val="10000"/>
                  </a:schemeClr>
                </a:solidFill>
                <a:latin typeface="Segoe UI" panose="020B0502040204020203" pitchFamily="34" charset="0"/>
                <a:cs typeface="Segoe UI" panose="020B0502040204020203" pitchFamily="34" charset="0"/>
              </a:rPr>
              <a:t>)</a:t>
            </a:r>
          </a:p>
          <a:p>
            <a:endParaRPr sz="2000" dirty="0">
              <a:solidFill>
                <a:schemeClr val="bg2">
                  <a:lumMod val="10000"/>
                </a:schemeClr>
              </a:solidFill>
              <a:latin typeface="Segoe UI" panose="020B0502040204020203" pitchFamily="34" charset="0"/>
              <a:cs typeface="Segoe UI" panose="020B0502040204020203" pitchFamily="34" charset="0"/>
            </a:endParaRPr>
          </a:p>
          <a:p>
            <a:r>
              <a:rPr sz="2000" dirty="0">
                <a:solidFill>
                  <a:schemeClr val="bg2">
                    <a:lumMod val="10000"/>
                  </a:schemeClr>
                </a:solidFill>
                <a:latin typeface="Segoe UI" panose="020B0502040204020203" pitchFamily="34" charset="0"/>
                <a:cs typeface="Segoe UI" panose="020B0502040204020203" pitchFamily="34" charset="0"/>
              </a:rPr>
              <a:t>Backend: Spring Boot 3 (Java), Spring Data JPA, Spring Security</a:t>
            </a:r>
          </a:p>
          <a:p>
            <a:endParaRPr sz="2000" dirty="0">
              <a:solidFill>
                <a:schemeClr val="bg2">
                  <a:lumMod val="10000"/>
                </a:schemeClr>
              </a:solidFill>
              <a:latin typeface="Segoe UI" panose="020B0502040204020203" pitchFamily="34" charset="0"/>
              <a:cs typeface="Segoe UI" panose="020B0502040204020203" pitchFamily="34" charset="0"/>
            </a:endParaRPr>
          </a:p>
          <a:p>
            <a:r>
              <a:rPr sz="2000" dirty="0">
                <a:solidFill>
                  <a:schemeClr val="bg2">
                    <a:lumMod val="10000"/>
                  </a:schemeClr>
                </a:solidFill>
                <a:latin typeface="Segoe UI" panose="020B0502040204020203" pitchFamily="34" charset="0"/>
                <a:cs typeface="Segoe UI" panose="020B0502040204020203" pitchFamily="34" charset="0"/>
              </a:rPr>
              <a:t>Database: MySQL 8.0</a:t>
            </a:r>
          </a:p>
          <a:p>
            <a:endParaRPr sz="2000" dirty="0">
              <a:solidFill>
                <a:schemeClr val="bg2">
                  <a:lumMod val="10000"/>
                </a:schemeClr>
              </a:solidFill>
              <a:latin typeface="Segoe UI" panose="020B0502040204020203" pitchFamily="34" charset="0"/>
              <a:cs typeface="Segoe UI" panose="020B0502040204020203" pitchFamily="34" charset="0"/>
            </a:endParaRPr>
          </a:p>
          <a:p>
            <a:r>
              <a:rPr sz="2000" dirty="0">
                <a:solidFill>
                  <a:schemeClr val="bg2">
                    <a:lumMod val="10000"/>
                  </a:schemeClr>
                </a:solidFill>
                <a:latin typeface="Segoe UI" panose="020B0502040204020203" pitchFamily="34" charset="0"/>
                <a:cs typeface="Segoe UI" panose="020B0502040204020203" pitchFamily="34" charset="0"/>
              </a:rPr>
              <a:t>Tools: Maven, Lombok, VS Code/Eclipse</a:t>
            </a:r>
          </a:p>
        </p:txBody>
      </p:sp>
      <p:sp>
        <p:nvSpPr>
          <p:cNvPr id="6" name="Slide Number Placeholder 5">
            <a:extLst>
              <a:ext uri="{FF2B5EF4-FFF2-40B4-BE49-F238E27FC236}">
                <a16:creationId xmlns:a16="http://schemas.microsoft.com/office/drawing/2014/main" id="{09E4ADE2-6727-D781-F5F1-B74840B49076}"/>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8DCCCDE0-A44C-C36D-85D6-C29687EEE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A74DF6F6-BB83-3E4D-4C37-7306A05E696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187CC"/>
                </a:solidFill>
              </a:rPr>
              <a:t>System Architecture</a:t>
            </a:r>
          </a:p>
        </p:txBody>
      </p:sp>
      <p:sp>
        <p:nvSpPr>
          <p:cNvPr id="3" name="Content Placeholder 2"/>
          <p:cNvSpPr>
            <a:spLocks noGrp="1"/>
          </p:cNvSpPr>
          <p:nvPr>
            <p:ph idx="1"/>
          </p:nvPr>
        </p:nvSpPr>
        <p:spPr/>
        <p:txBody>
          <a:bodyPr>
            <a:normAutofit fontScale="92500" lnSpcReduction="10000"/>
          </a:bodyPr>
          <a:lstStyle/>
          <a:p>
            <a:r>
              <a:rPr dirty="0">
                <a:solidFill>
                  <a:schemeClr val="tx1">
                    <a:lumMod val="95000"/>
                    <a:lumOff val="5000"/>
                  </a:schemeClr>
                </a:solidFill>
                <a:latin typeface="Segoe UI" panose="020B0502040204020203" pitchFamily="34" charset="0"/>
                <a:cs typeface="Segoe UI" panose="020B0502040204020203" pitchFamily="34" charset="0"/>
              </a:rPr>
              <a:t>Presentation Layer: Angular UI communicating via REST APIs</a:t>
            </a:r>
          </a:p>
          <a:p>
            <a:endParaRPr dirty="0">
              <a:solidFill>
                <a:schemeClr val="tx1">
                  <a:lumMod val="95000"/>
                  <a:lumOff val="5000"/>
                </a:schemeClr>
              </a:solidFill>
              <a:latin typeface="Segoe UI" panose="020B0502040204020203" pitchFamily="34" charset="0"/>
              <a:cs typeface="Segoe UI" panose="020B0502040204020203" pitchFamily="34" charset="0"/>
            </a:endParaRPr>
          </a:p>
          <a:p>
            <a:r>
              <a:rPr dirty="0">
                <a:solidFill>
                  <a:schemeClr val="tx1">
                    <a:lumMod val="95000"/>
                    <a:lumOff val="5000"/>
                  </a:schemeClr>
                </a:solidFill>
                <a:latin typeface="Segoe UI" panose="020B0502040204020203" pitchFamily="34" charset="0"/>
                <a:cs typeface="Segoe UI" panose="020B0502040204020203" pitchFamily="34" charset="0"/>
              </a:rPr>
              <a:t>Business Logic Layer: Spring Boot services handling orders, payments, and authentication</a:t>
            </a:r>
          </a:p>
          <a:p>
            <a:endParaRPr dirty="0">
              <a:solidFill>
                <a:schemeClr val="tx1">
                  <a:lumMod val="95000"/>
                  <a:lumOff val="5000"/>
                </a:schemeClr>
              </a:solidFill>
              <a:latin typeface="Segoe UI" panose="020B0502040204020203" pitchFamily="34" charset="0"/>
              <a:cs typeface="Segoe UI" panose="020B0502040204020203" pitchFamily="34" charset="0"/>
            </a:endParaRPr>
          </a:p>
          <a:p>
            <a:r>
              <a:rPr dirty="0">
                <a:solidFill>
                  <a:schemeClr val="tx1">
                    <a:lumMod val="95000"/>
                    <a:lumOff val="5000"/>
                  </a:schemeClr>
                </a:solidFill>
                <a:latin typeface="Segoe UI" panose="020B0502040204020203" pitchFamily="34" charset="0"/>
                <a:cs typeface="Segoe UI" panose="020B0502040204020203" pitchFamily="34" charset="0"/>
              </a:rPr>
              <a:t>Data Access Layer: Hibernate/JPA mapping Java objects to MySQL tables</a:t>
            </a:r>
          </a:p>
          <a:p>
            <a:endParaRPr dirty="0">
              <a:solidFill>
                <a:schemeClr val="tx1">
                  <a:lumMod val="95000"/>
                  <a:lumOff val="5000"/>
                </a:schemeClr>
              </a:solidFill>
              <a:latin typeface="Segoe UI" panose="020B0502040204020203" pitchFamily="34" charset="0"/>
              <a:cs typeface="Segoe UI" panose="020B0502040204020203" pitchFamily="34" charset="0"/>
            </a:endParaRPr>
          </a:p>
          <a:p>
            <a:r>
              <a:rPr dirty="0">
                <a:solidFill>
                  <a:schemeClr val="tx1">
                    <a:lumMod val="95000"/>
                    <a:lumOff val="5000"/>
                  </a:schemeClr>
                </a:solidFill>
                <a:latin typeface="Segoe UI" panose="020B0502040204020203" pitchFamily="34" charset="0"/>
                <a:cs typeface="Segoe UI" panose="020B0502040204020203" pitchFamily="34" charset="0"/>
              </a:rPr>
              <a:t>Connection: CORS configuration allowing port 4200 to talk to port 8080</a:t>
            </a:r>
          </a:p>
        </p:txBody>
      </p:sp>
      <p:sp>
        <p:nvSpPr>
          <p:cNvPr id="6" name="Slide Number Placeholder 5">
            <a:extLst>
              <a:ext uri="{FF2B5EF4-FFF2-40B4-BE49-F238E27FC236}">
                <a16:creationId xmlns:a16="http://schemas.microsoft.com/office/drawing/2014/main" id="{79182ED0-C0F8-EDA3-2588-88D81AFCAE53}"/>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1F2B2CC9-609C-91B8-FDFD-00B17AD71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323A7592-E535-47AB-7B17-95057A2719A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rPr>
              <a:t>Backend Deep Dive – Data Persistence</a:t>
            </a:r>
          </a:p>
        </p:txBody>
      </p:sp>
      <p:sp>
        <p:nvSpPr>
          <p:cNvPr id="3" name="Content Placeholder 2"/>
          <p:cNvSpPr>
            <a:spLocks noGrp="1"/>
          </p:cNvSpPr>
          <p:nvPr>
            <p:ph idx="1"/>
          </p:nvPr>
        </p:nvSpPr>
        <p:spPr/>
        <p:txBody>
          <a:bodyPr>
            <a:normAutofit/>
          </a:bodyPr>
          <a:lstStyle/>
          <a:p>
            <a:pPr marL="0" indent="0">
              <a:buNone/>
            </a:pPr>
            <a:r>
              <a:rPr lang="en-US" b="1" dirty="0"/>
              <a:t>Storing and Managing Application Data</a:t>
            </a:r>
            <a:endParaRPr lang="en-US" b="1" dirty="0">
              <a:solidFill>
                <a:schemeClr val="tx1">
                  <a:lumMod val="95000"/>
                  <a:lumOff val="5000"/>
                </a:schemeClr>
              </a:solidFill>
              <a:latin typeface="Segoe UI" panose="020B0502040204020203" pitchFamily="34" charset="0"/>
              <a:cs typeface="Segoe UI" panose="020B0502040204020203" pitchFamily="34" charset="0"/>
            </a:endParaRPr>
          </a:p>
          <a:p>
            <a:r>
              <a:rPr dirty="0">
                <a:solidFill>
                  <a:schemeClr val="tx1">
                    <a:lumMod val="95000"/>
                    <a:lumOff val="5000"/>
                  </a:schemeClr>
                </a:solidFill>
                <a:latin typeface="Segoe UI" panose="020B0502040204020203" pitchFamily="34" charset="0"/>
                <a:cs typeface="Segoe UI" panose="020B0502040204020203" pitchFamily="34" charset="0"/>
              </a:rPr>
              <a:t>Entity Mapping: Classes like OrderItem.java and Payment.java map to database tables</a:t>
            </a:r>
          </a:p>
          <a:p>
            <a:endParaRPr dirty="0">
              <a:solidFill>
                <a:schemeClr val="tx1">
                  <a:lumMod val="95000"/>
                  <a:lumOff val="5000"/>
                </a:schemeClr>
              </a:solidFill>
              <a:latin typeface="Segoe UI" panose="020B0502040204020203" pitchFamily="34" charset="0"/>
              <a:cs typeface="Segoe UI" panose="020B0502040204020203" pitchFamily="34" charset="0"/>
            </a:endParaRPr>
          </a:p>
          <a:p>
            <a:r>
              <a:rPr dirty="0">
                <a:solidFill>
                  <a:schemeClr val="tx1">
                    <a:lumMod val="95000"/>
                    <a:lumOff val="5000"/>
                  </a:schemeClr>
                </a:solidFill>
                <a:latin typeface="Segoe UI" panose="020B0502040204020203" pitchFamily="34" charset="0"/>
                <a:cs typeface="Segoe UI" panose="020B0502040204020203" pitchFamily="34" charset="0"/>
              </a:rPr>
              <a:t>Hibernate DDL-Auto: Using 'update' to sync Java entities with MySQL tables</a:t>
            </a:r>
          </a:p>
          <a:p>
            <a:endParaRPr dirty="0">
              <a:solidFill>
                <a:schemeClr val="tx1">
                  <a:lumMod val="95000"/>
                  <a:lumOff val="5000"/>
                </a:schemeClr>
              </a:solidFill>
              <a:latin typeface="Segoe UI" panose="020B0502040204020203" pitchFamily="34" charset="0"/>
              <a:cs typeface="Segoe UI" panose="020B0502040204020203" pitchFamily="34" charset="0"/>
            </a:endParaRPr>
          </a:p>
          <a:p>
            <a:r>
              <a:rPr dirty="0">
                <a:solidFill>
                  <a:schemeClr val="tx1">
                    <a:lumMod val="95000"/>
                    <a:lumOff val="5000"/>
                  </a:schemeClr>
                </a:solidFill>
                <a:latin typeface="Segoe UI" panose="020B0502040204020203" pitchFamily="34" charset="0"/>
                <a:cs typeface="Segoe UI" panose="020B0502040204020203" pitchFamily="34" charset="0"/>
              </a:rPr>
              <a:t>Precision: </a:t>
            </a:r>
            <a:r>
              <a:rPr dirty="0" err="1">
                <a:solidFill>
                  <a:schemeClr val="tx1">
                    <a:lumMod val="95000"/>
                    <a:lumOff val="5000"/>
                  </a:schemeClr>
                </a:solidFill>
                <a:latin typeface="Segoe UI" panose="020B0502040204020203" pitchFamily="34" charset="0"/>
                <a:cs typeface="Segoe UI" panose="020B0502040204020203" pitchFamily="34" charset="0"/>
              </a:rPr>
              <a:t>BigDecimal</a:t>
            </a:r>
            <a:r>
              <a:rPr dirty="0">
                <a:solidFill>
                  <a:schemeClr val="tx1">
                    <a:lumMod val="95000"/>
                    <a:lumOff val="5000"/>
                  </a:schemeClr>
                </a:solidFill>
                <a:latin typeface="Segoe UI" panose="020B0502040204020203" pitchFamily="34" charset="0"/>
                <a:cs typeface="Segoe UI" panose="020B0502040204020203" pitchFamily="34" charset="0"/>
              </a:rPr>
              <a:t> used for financial accuracy in prices and subtotals</a:t>
            </a:r>
          </a:p>
        </p:txBody>
      </p:sp>
      <p:sp>
        <p:nvSpPr>
          <p:cNvPr id="6" name="Slide Number Placeholder 5">
            <a:extLst>
              <a:ext uri="{FF2B5EF4-FFF2-40B4-BE49-F238E27FC236}">
                <a16:creationId xmlns:a16="http://schemas.microsoft.com/office/drawing/2014/main" id="{33A59034-5C1F-460D-2A77-6825EA2DE3A5}"/>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42647B64-B22A-F1EF-9282-C1BAA9ECC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B011A195-2DC1-D262-BF02-00F48CDB7E7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rPr>
              <a:t>Backend Deep Dive – DTO Pattern</a:t>
            </a:r>
          </a:p>
        </p:txBody>
      </p:sp>
      <p:sp>
        <p:nvSpPr>
          <p:cNvPr id="3" name="Content Placeholder 2"/>
          <p:cNvSpPr>
            <a:spLocks noGrp="1"/>
          </p:cNvSpPr>
          <p:nvPr>
            <p:ph idx="1"/>
          </p:nvPr>
        </p:nvSpPr>
        <p:spPr>
          <a:xfrm>
            <a:off x="838200" y="1825625"/>
            <a:ext cx="6774455" cy="4134500"/>
          </a:xfrm>
        </p:spPr>
        <p:txBody>
          <a:bodyPr>
            <a:normAutofit/>
          </a:bodyPr>
          <a:lstStyle/>
          <a:p>
            <a:pPr marL="0" indent="0">
              <a:buNone/>
            </a:pPr>
            <a:r>
              <a:rPr lang="en-IN" sz="2000" b="1" dirty="0"/>
              <a:t>Separating Data Between Layers</a:t>
            </a:r>
            <a:endParaRPr lang="en-US"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What is DTO?: Data Transfer Objects like </a:t>
            </a:r>
            <a:r>
              <a:rPr sz="2000" dirty="0" err="1">
                <a:solidFill>
                  <a:schemeClr val="tx1">
                    <a:lumMod val="95000"/>
                    <a:lumOff val="5000"/>
                  </a:schemeClr>
                </a:solidFill>
                <a:latin typeface="Segoe UI" panose="020B0502040204020203" pitchFamily="34" charset="0"/>
                <a:cs typeface="Segoe UI" panose="020B0502040204020203" pitchFamily="34" charset="0"/>
              </a:rPr>
              <a:t>AuthResponse</a:t>
            </a:r>
            <a:r>
              <a:rPr sz="2000" dirty="0">
                <a:solidFill>
                  <a:schemeClr val="tx1">
                    <a:lumMod val="95000"/>
                    <a:lumOff val="5000"/>
                  </a:schemeClr>
                </a:solidFill>
                <a:latin typeface="Segoe UI" panose="020B0502040204020203" pitchFamily="34" charset="0"/>
                <a:cs typeface="Segoe UI" panose="020B0502040204020203" pitchFamily="34" charset="0"/>
              </a:rPr>
              <a:t> and </a:t>
            </a:r>
            <a:r>
              <a:rPr sz="2000" dirty="0" err="1">
                <a:solidFill>
                  <a:schemeClr val="tx1">
                    <a:lumMod val="95000"/>
                    <a:lumOff val="5000"/>
                  </a:schemeClr>
                </a:solidFill>
                <a:latin typeface="Segoe UI" panose="020B0502040204020203" pitchFamily="34" charset="0"/>
                <a:cs typeface="Segoe UI" panose="020B0502040204020203" pitchFamily="34" charset="0"/>
              </a:rPr>
              <a:t>OrderDto</a:t>
            </a:r>
            <a:r>
              <a:rPr sz="2000" dirty="0">
                <a:solidFill>
                  <a:schemeClr val="tx1">
                    <a:lumMod val="95000"/>
                    <a:lumOff val="5000"/>
                  </a:schemeClr>
                </a:solidFill>
                <a:latin typeface="Segoe UI" panose="020B0502040204020203" pitchFamily="34" charset="0"/>
                <a:cs typeface="Segoe UI" panose="020B0502040204020203" pitchFamily="34" charset="0"/>
              </a:rPr>
              <a:t> decouple the database from the UI</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Security: Prevents sensitive information (like hashed passwords) from being sent to the frontend</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lang="en-US" sz="2000" dirty="0">
                <a:solidFill>
                  <a:schemeClr val="tx1">
                    <a:lumMod val="95000"/>
                    <a:lumOff val="5000"/>
                  </a:schemeClr>
                </a:solidFill>
                <a:latin typeface="Segoe UI" panose="020B0502040204020203" pitchFamily="34" charset="0"/>
                <a:cs typeface="Segoe UI" panose="020B0502040204020203" pitchFamily="34" charset="0"/>
              </a:rPr>
              <a:t>We implemented password security using </a:t>
            </a:r>
            <a:r>
              <a:rPr lang="en-US" sz="2000" dirty="0" err="1">
                <a:solidFill>
                  <a:schemeClr val="tx1">
                    <a:lumMod val="95000"/>
                    <a:lumOff val="5000"/>
                  </a:schemeClr>
                </a:solidFill>
                <a:latin typeface="Segoe UI" panose="020B0502040204020203" pitchFamily="34" charset="0"/>
                <a:cs typeface="Segoe UI" panose="020B0502040204020203" pitchFamily="34" charset="0"/>
              </a:rPr>
              <a:t>BCrypt</a:t>
            </a:r>
            <a:r>
              <a:rPr lang="en-US" sz="2000" dirty="0">
                <a:solidFill>
                  <a:schemeClr val="tx1">
                    <a:lumMod val="95000"/>
                    <a:lumOff val="5000"/>
                  </a:schemeClr>
                </a:solidFill>
                <a:latin typeface="Segoe UI" panose="020B0502040204020203" pitchFamily="34" charset="0"/>
                <a:cs typeface="Segoe UI" panose="020B0502040204020203" pitchFamily="34" charset="0"/>
              </a:rPr>
              <a:t> hashing from the Spring Security library, ensuring that user passwords are never stored in plain text and are securely encrypted before being saved in the database</a:t>
            </a:r>
            <a:endParaRPr sz="2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6" name="Slide Number Placeholder 5">
            <a:extLst>
              <a:ext uri="{FF2B5EF4-FFF2-40B4-BE49-F238E27FC236}">
                <a16:creationId xmlns:a16="http://schemas.microsoft.com/office/drawing/2014/main" id="{7FE7AB84-6C04-1F01-3D2C-F4A10201E4CC}"/>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23E4E4DD-9BB6-5A1A-28F8-9979101BF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02918712-6B3A-0BD5-739D-807C350FEF3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pic>
        <p:nvPicPr>
          <p:cNvPr id="8" name="Picture 7">
            <a:extLst>
              <a:ext uri="{FF2B5EF4-FFF2-40B4-BE49-F238E27FC236}">
                <a16:creationId xmlns:a16="http://schemas.microsoft.com/office/drawing/2014/main" id="{8C71A1F3-A0C6-2C46-DD50-3008AC3A263C}"/>
              </a:ext>
            </a:extLst>
          </p:cNvPr>
          <p:cNvPicPr>
            <a:picLocks noChangeAspect="1"/>
          </p:cNvPicPr>
          <p:nvPr/>
        </p:nvPicPr>
        <p:blipFill>
          <a:blip r:embed="rId3">
            <a:extLst>
              <a:ext uri="{28A0092B-C50C-407E-A947-70E740481C1C}">
                <a14:useLocalDpi xmlns:a14="http://schemas.microsoft.com/office/drawing/2010/main" val="0"/>
              </a:ext>
            </a:extLst>
          </a:blip>
          <a:srcRect l="13903" t="8387" r="32772" b="27182"/>
          <a:stretch>
            <a:fillRect/>
          </a:stretch>
        </p:blipFill>
        <p:spPr>
          <a:xfrm>
            <a:off x="8092196" y="1583502"/>
            <a:ext cx="2715352" cy="1845498"/>
          </a:xfrm>
          <a:prstGeom prst="rect">
            <a:avLst/>
          </a:prstGeom>
        </p:spPr>
      </p:pic>
      <p:pic>
        <p:nvPicPr>
          <p:cNvPr id="9" name="Picture 8">
            <a:extLst>
              <a:ext uri="{FF2B5EF4-FFF2-40B4-BE49-F238E27FC236}">
                <a16:creationId xmlns:a16="http://schemas.microsoft.com/office/drawing/2014/main" id="{93807891-7FED-9EC1-6C28-C8E0482F4D46}"/>
              </a:ext>
            </a:extLst>
          </p:cNvPr>
          <p:cNvPicPr>
            <a:picLocks noChangeAspect="1"/>
          </p:cNvPicPr>
          <p:nvPr/>
        </p:nvPicPr>
        <p:blipFill>
          <a:blip r:embed="rId4">
            <a:extLst>
              <a:ext uri="{28A0092B-C50C-407E-A947-70E740481C1C}">
                <a14:useLocalDpi xmlns:a14="http://schemas.microsoft.com/office/drawing/2010/main" val="0"/>
              </a:ext>
            </a:extLst>
          </a:blip>
          <a:srcRect t="1" r="10583" b="-6698"/>
          <a:stretch>
            <a:fillRect/>
          </a:stretch>
        </p:blipFill>
        <p:spPr>
          <a:xfrm>
            <a:off x="8092196" y="3782550"/>
            <a:ext cx="2743200" cy="18454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rPr>
              <a:t>Frontend Deep Dive – Component Logic</a:t>
            </a:r>
          </a:p>
        </p:txBody>
      </p:sp>
      <p:sp>
        <p:nvSpPr>
          <p:cNvPr id="3" name="Content Placeholder 2"/>
          <p:cNvSpPr>
            <a:spLocks noGrp="1"/>
          </p:cNvSpPr>
          <p:nvPr>
            <p:ph idx="1"/>
          </p:nvPr>
        </p:nvSpPr>
        <p:spPr/>
        <p:txBody>
          <a:bodyPr>
            <a:normAutofit/>
          </a:bodyPr>
          <a:lstStyle/>
          <a:p>
            <a:pPr marL="0" indent="0">
              <a:buNone/>
            </a:pPr>
            <a:r>
              <a:rPr lang="en-IN" b="1" dirty="0"/>
              <a:t>Handling UI and User Interactions</a:t>
            </a:r>
            <a:endParaRPr lang="en-US" b="1" dirty="0">
              <a:solidFill>
                <a:schemeClr val="tx1">
                  <a:lumMod val="95000"/>
                  <a:lumOff val="5000"/>
                </a:schemeClr>
              </a:solidFill>
            </a:endParaRPr>
          </a:p>
          <a:p>
            <a:r>
              <a:rPr dirty="0">
                <a:solidFill>
                  <a:schemeClr val="tx1">
                    <a:lumMod val="95000"/>
                    <a:lumOff val="5000"/>
                  </a:schemeClr>
                </a:solidFill>
              </a:rPr>
              <a:t>Modular Design: Components for Registration, Login, Product List, and Order History</a:t>
            </a:r>
          </a:p>
          <a:p>
            <a:endParaRPr dirty="0">
              <a:solidFill>
                <a:schemeClr val="tx1">
                  <a:lumMod val="95000"/>
                  <a:lumOff val="5000"/>
                </a:schemeClr>
              </a:solidFill>
            </a:endParaRPr>
          </a:p>
          <a:p>
            <a:r>
              <a:rPr dirty="0">
                <a:solidFill>
                  <a:schemeClr val="tx1">
                    <a:lumMod val="95000"/>
                    <a:lumOff val="5000"/>
                  </a:schemeClr>
                </a:solidFill>
              </a:rPr>
              <a:t>Service Layer: Angular Services (</a:t>
            </a:r>
            <a:r>
              <a:rPr dirty="0" err="1">
                <a:solidFill>
                  <a:schemeClr val="tx1">
                    <a:lumMod val="95000"/>
                    <a:lumOff val="5000"/>
                  </a:schemeClr>
                </a:solidFill>
              </a:rPr>
              <a:t>HttpClient</a:t>
            </a:r>
            <a:r>
              <a:rPr dirty="0">
                <a:solidFill>
                  <a:schemeClr val="tx1">
                    <a:lumMod val="95000"/>
                    <a:lumOff val="5000"/>
                  </a:schemeClr>
                </a:solidFill>
              </a:rPr>
              <a:t>) consume Spring Boot REST endpoints</a:t>
            </a:r>
          </a:p>
          <a:p>
            <a:endParaRPr dirty="0">
              <a:solidFill>
                <a:schemeClr val="tx1">
                  <a:lumMod val="95000"/>
                  <a:lumOff val="5000"/>
                </a:schemeClr>
              </a:solidFill>
            </a:endParaRPr>
          </a:p>
          <a:p>
            <a:r>
              <a:rPr dirty="0">
                <a:solidFill>
                  <a:schemeClr val="tx1">
                    <a:lumMod val="95000"/>
                    <a:lumOff val="5000"/>
                  </a:schemeClr>
                </a:solidFill>
              </a:rPr>
              <a:t>State Management: </a:t>
            </a:r>
            <a:r>
              <a:rPr dirty="0" err="1">
                <a:solidFill>
                  <a:schemeClr val="tx1">
                    <a:lumMod val="95000"/>
                    <a:lumOff val="5000"/>
                  </a:schemeClr>
                </a:solidFill>
              </a:rPr>
              <a:t>LocalStorage</a:t>
            </a:r>
            <a:r>
              <a:rPr dirty="0">
                <a:solidFill>
                  <a:schemeClr val="tx1">
                    <a:lumMod val="95000"/>
                    <a:lumOff val="5000"/>
                  </a:schemeClr>
                </a:solidFill>
              </a:rPr>
              <a:t> or Auth Services track logged-in users</a:t>
            </a:r>
          </a:p>
        </p:txBody>
      </p:sp>
      <p:sp>
        <p:nvSpPr>
          <p:cNvPr id="6" name="Slide Number Placeholder 5">
            <a:extLst>
              <a:ext uri="{FF2B5EF4-FFF2-40B4-BE49-F238E27FC236}">
                <a16:creationId xmlns:a16="http://schemas.microsoft.com/office/drawing/2014/main" id="{62283563-49F8-5308-DA58-8FF1949C14DB}"/>
              </a:ext>
            </a:extLst>
          </p:cNvPr>
          <p:cNvSpPr>
            <a:spLocks noGrp="1"/>
          </p:cNvSpPr>
          <p:nvPr>
            <p:ph type="sldNum" sz="quarter" idx="12"/>
          </p:nvPr>
        </p:nvSpPr>
        <p:spPr/>
        <p:txBody>
          <a:bodyPr/>
          <a:lstStyle/>
          <a:p>
            <a:fld id="{C8F35010-364B-470B-BB6C-DCBBE63D2E54}" type="slidenum">
              <a:rPr lang="en-US" smtClean="0">
                <a:solidFill>
                  <a:schemeClr val="tx1"/>
                </a:solidFill>
              </a:rPr>
              <a:t>7</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371B903C-15A6-7BC3-02FC-06760DC50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12A55C04-5AEF-8094-900D-ADD19771CA5F}"/>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rPr>
              <a:t>User Flow – Registration &amp; Authentication</a:t>
            </a:r>
          </a:p>
        </p:txBody>
      </p:sp>
      <p:sp>
        <p:nvSpPr>
          <p:cNvPr id="3" name="Content Placeholder 2"/>
          <p:cNvSpPr>
            <a:spLocks noGrp="1"/>
          </p:cNvSpPr>
          <p:nvPr>
            <p:ph idx="1"/>
          </p:nvPr>
        </p:nvSpPr>
        <p:spPr>
          <a:xfrm>
            <a:off x="838200" y="1825625"/>
            <a:ext cx="6654800" cy="4016375"/>
          </a:xfrm>
        </p:spPr>
        <p:txBody>
          <a:bodyPr>
            <a:normAutofit/>
          </a:bodyPr>
          <a:lstStyle/>
          <a:p>
            <a:pPr marL="0" indent="0">
              <a:buNone/>
            </a:pPr>
            <a:r>
              <a:rPr lang="en-US" sz="2000" b="1" dirty="0"/>
              <a:t>Secure User Access and Login Flow</a:t>
            </a:r>
            <a:endParaRPr lang="en-US"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Flow: Guest → Registration (/register) → Login (/login) → Authenticated User</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Validation: Frontend form validation for emails and passwords</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Security: Backend verification of credentials against the users table in MySQL</a:t>
            </a:r>
          </a:p>
        </p:txBody>
      </p:sp>
      <p:sp>
        <p:nvSpPr>
          <p:cNvPr id="6" name="Slide Number Placeholder 5">
            <a:extLst>
              <a:ext uri="{FF2B5EF4-FFF2-40B4-BE49-F238E27FC236}">
                <a16:creationId xmlns:a16="http://schemas.microsoft.com/office/drawing/2014/main" id="{B360D709-BB2E-6770-3010-A87BA2C9F3D4}"/>
              </a:ext>
            </a:extLst>
          </p:cNvPr>
          <p:cNvSpPr>
            <a:spLocks noGrp="1"/>
          </p:cNvSpPr>
          <p:nvPr>
            <p:ph type="sldNum" sz="quarter" idx="12"/>
          </p:nvPr>
        </p:nvSpPr>
        <p:spPr/>
        <p:txBody>
          <a:bodyPr/>
          <a:lstStyle/>
          <a:p>
            <a:fld id="{C8F35010-364B-470B-BB6C-DCBBE63D2E54}" type="slidenum">
              <a:rPr lang="en-US" smtClean="0">
                <a:solidFill>
                  <a:schemeClr val="tx1"/>
                </a:solidFill>
              </a:rPr>
              <a:t>8</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2F62B8F3-F7CA-8D39-4337-E2E3C65E0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F8B9AF8D-C14C-7365-E18E-590220F466A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pic>
        <p:nvPicPr>
          <p:cNvPr id="8" name="Picture 7">
            <a:extLst>
              <a:ext uri="{FF2B5EF4-FFF2-40B4-BE49-F238E27FC236}">
                <a16:creationId xmlns:a16="http://schemas.microsoft.com/office/drawing/2014/main" id="{E9447372-41FB-D302-AECB-6B844EDD7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3000" y="1690688"/>
            <a:ext cx="4279900" cy="1960729"/>
          </a:xfrm>
          <a:prstGeom prst="rect">
            <a:avLst/>
          </a:prstGeom>
        </p:spPr>
      </p:pic>
      <p:pic>
        <p:nvPicPr>
          <p:cNvPr id="18" name="Picture 17">
            <a:extLst>
              <a:ext uri="{FF2B5EF4-FFF2-40B4-BE49-F238E27FC236}">
                <a16:creationId xmlns:a16="http://schemas.microsoft.com/office/drawing/2014/main" id="{F1CF94B5-CB9E-5639-8A29-560C5920BA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3000" y="3940825"/>
            <a:ext cx="4279900" cy="19634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Core Feature – Order Lifecycle</a:t>
            </a:r>
          </a:p>
        </p:txBody>
      </p:sp>
      <p:sp>
        <p:nvSpPr>
          <p:cNvPr id="3" name="Content Placeholder 2"/>
          <p:cNvSpPr>
            <a:spLocks noGrp="1"/>
          </p:cNvSpPr>
          <p:nvPr>
            <p:ph idx="1"/>
          </p:nvPr>
        </p:nvSpPr>
        <p:spPr>
          <a:xfrm>
            <a:off x="838200" y="1825625"/>
            <a:ext cx="6451600" cy="4365855"/>
          </a:xfrm>
        </p:spPr>
        <p:txBody>
          <a:bodyPr>
            <a:normAutofit/>
          </a:bodyPr>
          <a:lstStyle/>
          <a:p>
            <a:pPr marL="0" indent="0">
              <a:buNone/>
            </a:pPr>
            <a:r>
              <a:rPr lang="en-US" sz="2000" b="1" dirty="0"/>
              <a:t>Tracking Orders from Placement to Delivery</a:t>
            </a:r>
            <a:endParaRPr lang="en-US" sz="2000" b="1"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Order Placement: User adds products (Laptop Stand, Mechanical Keyboard) to cart and checks out</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Order Tracking: Status updates — PLACED → PROCESSING → SHIPPED → DELIVERED</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Persistence: Every order status change is updated in the MySQL database</a:t>
            </a:r>
          </a:p>
        </p:txBody>
      </p:sp>
      <p:sp>
        <p:nvSpPr>
          <p:cNvPr id="6" name="Slide Number Placeholder 5">
            <a:extLst>
              <a:ext uri="{FF2B5EF4-FFF2-40B4-BE49-F238E27FC236}">
                <a16:creationId xmlns:a16="http://schemas.microsoft.com/office/drawing/2014/main" id="{A001784B-43C6-48AA-55C9-5ED4688D8C52}"/>
              </a:ext>
            </a:extLst>
          </p:cNvPr>
          <p:cNvSpPr>
            <a:spLocks noGrp="1"/>
          </p:cNvSpPr>
          <p:nvPr>
            <p:ph type="sldNum" sz="quarter" idx="12"/>
          </p:nvPr>
        </p:nvSpPr>
        <p:spPr/>
        <p:txBody>
          <a:bodyPr/>
          <a:lstStyle/>
          <a:p>
            <a:fld id="{C8F35010-364B-470B-BB6C-DCBBE63D2E54}" type="slidenum">
              <a:rPr lang="en-US" smtClean="0">
                <a:solidFill>
                  <a:schemeClr val="tx1"/>
                </a:solidFill>
              </a:rPr>
              <a:t>9</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E053F80D-F465-6674-9E82-CF18F0E12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79A43AD3-2E05-7709-E227-8CE651457EF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pic>
        <p:nvPicPr>
          <p:cNvPr id="8" name="Picture 7">
            <a:extLst>
              <a:ext uri="{FF2B5EF4-FFF2-40B4-BE49-F238E27FC236}">
                <a16:creationId xmlns:a16="http://schemas.microsoft.com/office/drawing/2014/main" id="{B217D4C7-357D-302C-8F6E-EFCDCA54B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9800" y="1752917"/>
            <a:ext cx="4468625" cy="1996917"/>
          </a:xfrm>
          <a:prstGeom prst="rect">
            <a:avLst/>
          </a:prstGeom>
        </p:spPr>
      </p:pic>
      <p:pic>
        <p:nvPicPr>
          <p:cNvPr id="10" name="Picture 9">
            <a:extLst>
              <a:ext uri="{FF2B5EF4-FFF2-40B4-BE49-F238E27FC236}">
                <a16:creationId xmlns:a16="http://schemas.microsoft.com/office/drawing/2014/main" id="{49390E76-CA9A-DF14-B979-F91C123004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9800" y="3992798"/>
            <a:ext cx="4468625" cy="2058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Admin Capabilities</a:t>
            </a:r>
          </a:p>
        </p:txBody>
      </p:sp>
      <p:sp>
        <p:nvSpPr>
          <p:cNvPr id="3" name="Content Placeholder 2"/>
          <p:cNvSpPr>
            <a:spLocks noGrp="1"/>
          </p:cNvSpPr>
          <p:nvPr>
            <p:ph idx="1"/>
          </p:nvPr>
        </p:nvSpPr>
        <p:spPr>
          <a:xfrm>
            <a:off x="838200" y="1825625"/>
            <a:ext cx="6259403" cy="3622675"/>
          </a:xfrm>
        </p:spPr>
        <p:txBody>
          <a:bodyPr>
            <a:normAutofit/>
          </a:bodyPr>
          <a:lstStyle/>
          <a:p>
            <a:pPr marL="0" indent="0">
              <a:buNone/>
            </a:pPr>
            <a:r>
              <a:rPr lang="en-IN" sz="2000" b="1" dirty="0"/>
              <a:t>Managing Orders and Users</a:t>
            </a:r>
            <a:endParaRPr lang="en-US" sz="2000" b="1"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Admin Dashboard: Special view for users with ROLE_ADMIN</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Management: View all orders, change order statuses, cancel orders</a:t>
            </a:r>
          </a:p>
          <a:p>
            <a:endParaRPr sz="2000" dirty="0">
              <a:solidFill>
                <a:schemeClr val="tx1">
                  <a:lumMod val="95000"/>
                  <a:lumOff val="5000"/>
                </a:schemeClr>
              </a:solidFill>
              <a:latin typeface="Segoe UI" panose="020B0502040204020203" pitchFamily="34" charset="0"/>
              <a:cs typeface="Segoe UI" panose="020B0502040204020203" pitchFamily="34" charset="0"/>
            </a:endParaRPr>
          </a:p>
          <a:p>
            <a:r>
              <a:rPr sz="2000" dirty="0">
                <a:solidFill>
                  <a:schemeClr val="tx1">
                    <a:lumMod val="95000"/>
                    <a:lumOff val="5000"/>
                  </a:schemeClr>
                </a:solidFill>
                <a:latin typeface="Segoe UI" panose="020B0502040204020203" pitchFamily="34" charset="0"/>
                <a:cs typeface="Segoe UI" panose="020B0502040204020203" pitchFamily="34" charset="0"/>
              </a:rPr>
              <a:t>Data Integrity: Admin actions are logged and reflected across the system</a:t>
            </a:r>
          </a:p>
        </p:txBody>
      </p:sp>
      <p:sp>
        <p:nvSpPr>
          <p:cNvPr id="6" name="Slide Number Placeholder 5">
            <a:extLst>
              <a:ext uri="{FF2B5EF4-FFF2-40B4-BE49-F238E27FC236}">
                <a16:creationId xmlns:a16="http://schemas.microsoft.com/office/drawing/2014/main" id="{DBC1A846-A815-3F8D-F75F-1255E1DAE39B}"/>
              </a:ext>
            </a:extLst>
          </p:cNvPr>
          <p:cNvSpPr>
            <a:spLocks noGrp="1"/>
          </p:cNvSpPr>
          <p:nvPr>
            <p:ph type="sldNum" sz="quarter" idx="12"/>
          </p:nvPr>
        </p:nvSpPr>
        <p:spPr/>
        <p:txBody>
          <a:bodyPr/>
          <a:lstStyle/>
          <a:p>
            <a:fld id="{C8F35010-364B-470B-BB6C-DCBBE63D2E54}" type="slidenum">
              <a:rPr lang="en-US" smtClean="0">
                <a:solidFill>
                  <a:schemeClr val="tx1"/>
                </a:solidFill>
              </a:rPr>
              <a:t>10</a:t>
            </a:fld>
            <a:endParaRPr 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1606290D-B96D-F254-1ED1-BE7061FE7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5849F955-04B5-8986-0C87-AAEBD8CA141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pic>
        <p:nvPicPr>
          <p:cNvPr id="8" name="Picture 7">
            <a:extLst>
              <a:ext uri="{FF2B5EF4-FFF2-40B4-BE49-F238E27FC236}">
                <a16:creationId xmlns:a16="http://schemas.microsoft.com/office/drawing/2014/main" id="{2A7FA1DE-607B-D36F-17C7-EB12D4953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0885" y="3768864"/>
            <a:ext cx="4424757" cy="1783730"/>
          </a:xfrm>
          <a:prstGeom prst="rect">
            <a:avLst/>
          </a:prstGeom>
        </p:spPr>
      </p:pic>
      <p:pic>
        <p:nvPicPr>
          <p:cNvPr id="10" name="Picture 9">
            <a:extLst>
              <a:ext uri="{FF2B5EF4-FFF2-40B4-BE49-F238E27FC236}">
                <a16:creationId xmlns:a16="http://schemas.microsoft.com/office/drawing/2014/main" id="{2208B53B-BF07-3B05-78D8-6F9D8C0F67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0885" y="1141472"/>
            <a:ext cx="4424757" cy="217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7CBBD-54BD-08F6-DCB5-81D2687ACAA0}"/>
              </a:ext>
            </a:extLst>
          </p:cNvPr>
          <p:cNvSpPr>
            <a:spLocks noGrp="1"/>
          </p:cNvSpPr>
          <p:nvPr>
            <p:ph type="title"/>
          </p:nvPr>
        </p:nvSpPr>
        <p:spPr/>
        <p:txBody>
          <a:bodyPr/>
          <a:lstStyle/>
          <a:p>
            <a:r>
              <a:rPr lang="en-US"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Validation</a:t>
            </a:r>
            <a:endPar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81FEEF04-7B18-4F7B-61A3-4F922F696223}"/>
              </a:ext>
            </a:extLst>
          </p:cNvPr>
          <p:cNvSpPr>
            <a:spLocks noGrp="1"/>
          </p:cNvSpPr>
          <p:nvPr>
            <p:ph idx="1"/>
          </p:nvPr>
        </p:nvSpPr>
        <p:spPr>
          <a:xfrm>
            <a:off x="838200" y="1825625"/>
            <a:ext cx="6259403" cy="4266703"/>
          </a:xfrm>
        </p:spPr>
        <p:txBody>
          <a:bodyPr>
            <a:normAutofit/>
          </a:bodyPr>
          <a:lstStyle/>
          <a:p>
            <a:pPr marL="0" indent="0" algn="just">
              <a:buNone/>
            </a:pPr>
            <a:r>
              <a:rPr lang="en-IN" sz="2000" b="1" dirty="0">
                <a:latin typeface="Segoe UI" panose="020B0502040204020203" pitchFamily="34" charset="0"/>
                <a:cs typeface="Segoe UI" panose="020B0502040204020203" pitchFamily="34" charset="0"/>
              </a:rPr>
              <a:t>Ensuring Accurate User Input</a:t>
            </a:r>
            <a:endParaRPr lang="en-US" sz="2000" b="1" dirty="0">
              <a:latin typeface="Segoe UI" panose="020B0502040204020203" pitchFamily="34" charset="0"/>
              <a:cs typeface="Segoe UI" panose="020B0502040204020203" pitchFamily="34" charset="0"/>
            </a:endParaRPr>
          </a:p>
          <a:p>
            <a:pPr algn="just"/>
            <a:r>
              <a:rPr lang="en-US" sz="2000" dirty="0">
                <a:latin typeface="Segoe UI" panose="020B0502040204020203" pitchFamily="34" charset="0"/>
                <a:cs typeface="Segoe UI" panose="020B0502040204020203" pitchFamily="34" charset="0"/>
              </a:rPr>
              <a:t>The checkout form includes strong client-side validation to ensure accurate and secure data entry. Fields such as first name, last name, city, and state accept only alphabetic characters, while the email field is validated using proper email format rules. The street address requires meaningful input, and the ZIP code is restricted to valid 5–6 digit numeric values. Real-time validation messages guide users to correct errors immediately, improving data quality, user experience, and successful order processing</a:t>
            </a:r>
            <a:endParaRPr lang="en-IN" sz="2000" dirty="0">
              <a:latin typeface="Segoe UI" panose="020B0502040204020203" pitchFamily="34" charset="0"/>
              <a:cs typeface="Segoe UI" panose="020B0502040204020203" pitchFamily="34" charset="0"/>
            </a:endParaRPr>
          </a:p>
        </p:txBody>
      </p:sp>
      <p:pic>
        <p:nvPicPr>
          <p:cNvPr id="6" name="Picture 5" descr="Logo&#10;&#10;Description automatically generated">
            <a:extLst>
              <a:ext uri="{FF2B5EF4-FFF2-40B4-BE49-F238E27FC236}">
                <a16:creationId xmlns:a16="http://schemas.microsoft.com/office/drawing/2014/main" id="{29B1B866-F9C7-0F8B-22E1-9734732BDB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7" name="TextBox 5">
            <a:extLst>
              <a:ext uri="{FF2B5EF4-FFF2-40B4-BE49-F238E27FC236}">
                <a16:creationId xmlns:a16="http://schemas.microsoft.com/office/drawing/2014/main" id="{D00F155A-B7C5-717D-CC1F-1DFDB85476F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8" name="Slide Number Placeholder 5">
            <a:extLst>
              <a:ext uri="{FF2B5EF4-FFF2-40B4-BE49-F238E27FC236}">
                <a16:creationId xmlns:a16="http://schemas.microsoft.com/office/drawing/2014/main" id="{41B32EEE-4D43-7BD1-3B35-CBBBE408B602}"/>
              </a:ext>
            </a:extLst>
          </p:cNvPr>
          <p:cNvSpPr>
            <a:spLocks noGrp="1"/>
          </p:cNvSpPr>
          <p:nvPr>
            <p:ph type="sldNum" sz="quarter" idx="12"/>
          </p:nvPr>
        </p:nvSpPr>
        <p:spPr>
          <a:xfrm>
            <a:off x="8610600" y="6356350"/>
            <a:ext cx="2743200" cy="365125"/>
          </a:xfrm>
        </p:spPr>
        <p:txBody>
          <a:bodyPr/>
          <a:lstStyle/>
          <a:p>
            <a:fld id="{C8F35010-364B-470B-BB6C-DCBBE63D2E54}" type="slidenum">
              <a:rPr lang="en-US" smtClean="0">
                <a:solidFill>
                  <a:schemeClr val="tx1"/>
                </a:solidFill>
              </a:rPr>
              <a:t>11</a:t>
            </a:fld>
            <a:endParaRPr lang="en-US" dirty="0">
              <a:solidFill>
                <a:schemeClr val="tx1"/>
              </a:solidFill>
            </a:endParaRPr>
          </a:p>
        </p:txBody>
      </p:sp>
      <p:pic>
        <p:nvPicPr>
          <p:cNvPr id="10" name="Picture 9">
            <a:extLst>
              <a:ext uri="{FF2B5EF4-FFF2-40B4-BE49-F238E27FC236}">
                <a16:creationId xmlns:a16="http://schemas.microsoft.com/office/drawing/2014/main" id="{F7292EB2-5D9B-B86B-09AE-9FF943D8E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9500" y="2152967"/>
            <a:ext cx="4471847" cy="2207974"/>
          </a:xfrm>
          <a:prstGeom prst="rect">
            <a:avLst/>
          </a:prstGeom>
        </p:spPr>
      </p:pic>
    </p:spTree>
    <p:extLst>
      <p:ext uri="{BB962C8B-B14F-4D97-AF65-F5344CB8AC3E}">
        <p14:creationId xmlns:p14="http://schemas.microsoft.com/office/powerpoint/2010/main" val="3523188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0D985-0C42-FB5A-83A3-8E9CD9BEEBB7}"/>
              </a:ext>
            </a:extLst>
          </p:cNvPr>
          <p:cNvSpPr>
            <a:spLocks noGrp="1"/>
          </p:cNvSpPr>
          <p:nvPr>
            <p:ph type="title"/>
          </p:nvPr>
        </p:nvSpPr>
        <p:spPr/>
        <p:txBody>
          <a:bodyPr/>
          <a:lstStyle/>
          <a:p>
            <a:r>
              <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Deployment</a:t>
            </a:r>
          </a:p>
        </p:txBody>
      </p:sp>
      <p:sp>
        <p:nvSpPr>
          <p:cNvPr id="3" name="Content Placeholder 2">
            <a:extLst>
              <a:ext uri="{FF2B5EF4-FFF2-40B4-BE49-F238E27FC236}">
                <a16:creationId xmlns:a16="http://schemas.microsoft.com/office/drawing/2014/main" id="{91FE599F-CE10-A72B-C129-24420A9F1358}"/>
              </a:ext>
            </a:extLst>
          </p:cNvPr>
          <p:cNvSpPr>
            <a:spLocks noGrp="1"/>
          </p:cNvSpPr>
          <p:nvPr>
            <p:ph idx="1"/>
          </p:nvPr>
        </p:nvSpPr>
        <p:spPr>
          <a:xfrm>
            <a:off x="838200" y="1825626"/>
            <a:ext cx="7005810" cy="3770944"/>
          </a:xfrm>
        </p:spPr>
        <p:txBody>
          <a:bodyPr>
            <a:noAutofit/>
          </a:bodyPr>
          <a:lstStyle/>
          <a:p>
            <a:pPr marL="0" indent="0" algn="just">
              <a:buNone/>
            </a:pPr>
            <a:r>
              <a:rPr lang="en-IN" sz="2400" b="1" dirty="0">
                <a:latin typeface="Segoe UI" panose="020B0502040204020203" pitchFamily="34" charset="0"/>
                <a:cs typeface="Segoe UI" panose="020B0502040204020203" pitchFamily="34" charset="0"/>
              </a:rPr>
              <a:t>Deployment Using Docker</a:t>
            </a:r>
            <a:endParaRPr lang="en-US" sz="2400" b="1" dirty="0">
              <a:latin typeface="Segoe UI" panose="020B0502040204020203" pitchFamily="34" charset="0"/>
              <a:cs typeface="Segoe UI" panose="020B0502040204020203" pitchFamily="34" charset="0"/>
            </a:endParaRPr>
          </a:p>
          <a:p>
            <a:pPr algn="just"/>
            <a:r>
              <a:rPr lang="en-US" sz="2000" dirty="0">
                <a:latin typeface="Segoe UI" panose="020B0502040204020203" pitchFamily="34" charset="0"/>
                <a:cs typeface="Segoe UI" panose="020B0502040204020203" pitchFamily="34" charset="0"/>
              </a:rPr>
              <a:t>The entire application was containerized using Docker to ensure consistency across development and deployment environments. Separate Docker images were created for the Angular frontend, Spring Boot backend, and MySQL database. </a:t>
            </a:r>
          </a:p>
          <a:p>
            <a:pPr algn="just"/>
            <a:r>
              <a:rPr lang="en-US" sz="2000" dirty="0">
                <a:latin typeface="Segoe UI" panose="020B0502040204020203" pitchFamily="34" charset="0"/>
                <a:cs typeface="Segoe UI" panose="020B0502040204020203" pitchFamily="34" charset="0"/>
              </a:rPr>
              <a:t>Using Docker Compose, all services were orchestrated and launched together with a single command, enabling seamless communication between containers through a shared network. This approach simplifies deployment, improves scalability, and ensures that the application runs reliably across different systems without environment-related issues.</a:t>
            </a:r>
            <a:endParaRPr lang="en-IN" sz="2000" dirty="0">
              <a:latin typeface="Segoe UI" panose="020B0502040204020203" pitchFamily="34" charset="0"/>
              <a:cs typeface="Segoe UI" panose="020B0502040204020203" pitchFamily="34" charset="0"/>
            </a:endParaRPr>
          </a:p>
        </p:txBody>
      </p:sp>
      <p:pic>
        <p:nvPicPr>
          <p:cNvPr id="4" name="Picture 3" descr="Logo&#10;&#10;Description automatically generated">
            <a:extLst>
              <a:ext uri="{FF2B5EF4-FFF2-40B4-BE49-F238E27FC236}">
                <a16:creationId xmlns:a16="http://schemas.microsoft.com/office/drawing/2014/main" id="{9285754B-5C22-1696-5025-84EE6A88F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5" name="TextBox 5">
            <a:extLst>
              <a:ext uri="{FF2B5EF4-FFF2-40B4-BE49-F238E27FC236}">
                <a16:creationId xmlns:a16="http://schemas.microsoft.com/office/drawing/2014/main" id="{4C5AC496-E574-C0D0-867C-5165020B06A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24CCBD3-2390-4902-9744-F0F681A5F14E}"/>
              </a:ext>
            </a:extLst>
          </p:cNvPr>
          <p:cNvSpPr>
            <a:spLocks noGrp="1"/>
          </p:cNvSpPr>
          <p:nvPr>
            <p:ph type="sldNum" sz="quarter" idx="12"/>
          </p:nvPr>
        </p:nvSpPr>
        <p:spPr>
          <a:xfrm>
            <a:off x="8610600" y="6356350"/>
            <a:ext cx="2743200" cy="365125"/>
          </a:xfrm>
        </p:spPr>
        <p:txBody>
          <a:bodyPr/>
          <a:lstStyle/>
          <a:p>
            <a:fld id="{C8F35010-364B-470B-BB6C-DCBBE63D2E54}" type="slidenum">
              <a:rPr lang="en-US" smtClean="0">
                <a:solidFill>
                  <a:schemeClr val="tx1"/>
                </a:solidFill>
              </a:rPr>
              <a:t>12</a:t>
            </a:fld>
            <a:endParaRPr lang="en-US" dirty="0">
              <a:solidFill>
                <a:schemeClr val="tx1"/>
              </a:solidFill>
            </a:endParaRPr>
          </a:p>
        </p:txBody>
      </p:sp>
      <p:pic>
        <p:nvPicPr>
          <p:cNvPr id="10" name="Picture 9">
            <a:extLst>
              <a:ext uri="{FF2B5EF4-FFF2-40B4-BE49-F238E27FC236}">
                <a16:creationId xmlns:a16="http://schemas.microsoft.com/office/drawing/2014/main" id="{B81CED00-5EFF-3CD5-ED2B-79B595EA59AA}"/>
              </a:ext>
            </a:extLst>
          </p:cNvPr>
          <p:cNvPicPr>
            <a:picLocks noChangeAspect="1"/>
          </p:cNvPicPr>
          <p:nvPr/>
        </p:nvPicPr>
        <p:blipFill>
          <a:blip r:embed="rId3">
            <a:extLst>
              <a:ext uri="{28A0092B-C50C-407E-A947-70E740481C1C}">
                <a14:useLocalDpi xmlns:a14="http://schemas.microsoft.com/office/drawing/2010/main" val="0"/>
              </a:ext>
            </a:extLst>
          </a:blip>
          <a:srcRect l="19957" t="40086" r="-408" b="1009"/>
          <a:stretch>
            <a:fillRect/>
          </a:stretch>
        </p:blipFill>
        <p:spPr>
          <a:xfrm>
            <a:off x="8214177" y="3736754"/>
            <a:ext cx="3496754" cy="1696213"/>
          </a:xfrm>
          <a:prstGeom prst="rect">
            <a:avLst/>
          </a:prstGeom>
        </p:spPr>
      </p:pic>
      <p:pic>
        <p:nvPicPr>
          <p:cNvPr id="12" name="Picture 11">
            <a:extLst>
              <a:ext uri="{FF2B5EF4-FFF2-40B4-BE49-F238E27FC236}">
                <a16:creationId xmlns:a16="http://schemas.microsoft.com/office/drawing/2014/main" id="{AE6BDF1F-6707-D32F-EDF0-2D80EA9FB25B}"/>
              </a:ext>
            </a:extLst>
          </p:cNvPr>
          <p:cNvPicPr>
            <a:picLocks noChangeAspect="1"/>
          </p:cNvPicPr>
          <p:nvPr/>
        </p:nvPicPr>
        <p:blipFill>
          <a:blip r:embed="rId4">
            <a:extLst>
              <a:ext uri="{28A0092B-C50C-407E-A947-70E740481C1C}">
                <a14:useLocalDpi xmlns:a14="http://schemas.microsoft.com/office/drawing/2010/main" val="0"/>
              </a:ext>
            </a:extLst>
          </a:blip>
          <a:srcRect l="157" t="1803" r="39792" b="26735"/>
          <a:stretch>
            <a:fillRect/>
          </a:stretch>
        </p:blipFill>
        <p:spPr>
          <a:xfrm>
            <a:off x="8214177" y="1500988"/>
            <a:ext cx="3496754" cy="2023418"/>
          </a:xfrm>
          <a:prstGeom prst="rect">
            <a:avLst/>
          </a:prstGeom>
        </p:spPr>
      </p:pic>
    </p:spTree>
    <p:extLst>
      <p:ext uri="{BB962C8B-B14F-4D97-AF65-F5344CB8AC3E}">
        <p14:creationId xmlns:p14="http://schemas.microsoft.com/office/powerpoint/2010/main" val="3294415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F359-FD18-B514-B44A-560C9A43DAD8}"/>
              </a:ext>
            </a:extLst>
          </p:cNvPr>
          <p:cNvSpPr>
            <a:spLocks noGrp="1"/>
          </p:cNvSpPr>
          <p:nvPr>
            <p:ph type="title"/>
          </p:nvPr>
        </p:nvSpPr>
        <p:spPr/>
        <p:txBody>
          <a:bodyPr/>
          <a:lstStyle/>
          <a:p>
            <a:r>
              <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Deployment</a:t>
            </a:r>
            <a:br>
              <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1AB5FBEC-8A5D-37AC-ED84-F1C921281213}"/>
              </a:ext>
            </a:extLst>
          </p:cNvPr>
          <p:cNvSpPr>
            <a:spLocks noGrp="1"/>
          </p:cNvSpPr>
          <p:nvPr>
            <p:ph idx="1"/>
          </p:nvPr>
        </p:nvSpPr>
        <p:spPr>
          <a:xfrm>
            <a:off x="838200" y="1825625"/>
            <a:ext cx="6884624" cy="3833174"/>
          </a:xfrm>
        </p:spPr>
        <p:txBody>
          <a:bodyPr>
            <a:normAutofit lnSpcReduction="10000"/>
          </a:bodyPr>
          <a:lstStyle/>
          <a:p>
            <a:pPr marL="0" indent="0" algn="just">
              <a:buNone/>
            </a:pPr>
            <a:r>
              <a:rPr lang="en-IN" sz="2400" b="1" dirty="0">
                <a:latin typeface="Segoe UI" panose="020B0502040204020203" pitchFamily="34" charset="0"/>
                <a:cs typeface="Segoe UI" panose="020B0502040204020203" pitchFamily="34" charset="0"/>
              </a:rPr>
              <a:t>Azure Deployment</a:t>
            </a:r>
            <a:endParaRPr lang="en-US" sz="2400" b="1" dirty="0">
              <a:latin typeface="Segoe UI" panose="020B0502040204020203" pitchFamily="34" charset="0"/>
              <a:cs typeface="Segoe UI" panose="020B0502040204020203" pitchFamily="34" charset="0"/>
            </a:endParaRPr>
          </a:p>
          <a:p>
            <a:pPr algn="just"/>
            <a:r>
              <a:rPr lang="en-US" sz="2000" dirty="0">
                <a:latin typeface="Segoe UI" panose="020B0502040204020203" pitchFamily="34" charset="0"/>
                <a:cs typeface="Segoe UI" panose="020B0502040204020203" pitchFamily="34" charset="0"/>
              </a:rPr>
              <a:t>The application was successfully deployed on Microsoft Azure using Azure App Service for the Spring Boot backend and cloud-based hosting for the frontend. The backend was connected to a managed MySQL database, ensuring secure and reliable data storage. Deployment was automated through GitHub integration, allowing continuous updates with every code push. Azure’s monitoring and deployment tools were used to verify application health, manage configurations, and ensure smooth production readiness. This deployment demonstrates real-world cloud hosting, scalability, and enterprise-level infrastructure management</a:t>
            </a:r>
            <a:endParaRPr lang="en-IN" sz="2000" dirty="0">
              <a:latin typeface="Segoe UI" panose="020B0502040204020203" pitchFamily="34" charset="0"/>
              <a:cs typeface="Segoe UI" panose="020B0502040204020203" pitchFamily="34" charset="0"/>
            </a:endParaRPr>
          </a:p>
        </p:txBody>
      </p:sp>
      <p:sp>
        <p:nvSpPr>
          <p:cNvPr id="4" name="Title 1">
            <a:extLst>
              <a:ext uri="{FF2B5EF4-FFF2-40B4-BE49-F238E27FC236}">
                <a16:creationId xmlns:a16="http://schemas.microsoft.com/office/drawing/2014/main" id="{3F635202-AD9E-9F7F-FF9D-B88FB699AB1B}"/>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5" name="Content Placeholder 2">
            <a:extLst>
              <a:ext uri="{FF2B5EF4-FFF2-40B4-BE49-F238E27FC236}">
                <a16:creationId xmlns:a16="http://schemas.microsoft.com/office/drawing/2014/main" id="{DA6FEFF6-97DB-B36B-1987-81D3A229A549}"/>
              </a:ext>
            </a:extLst>
          </p:cNvPr>
          <p:cNvSpPr txBox="1">
            <a:spLocks/>
          </p:cNvSpPr>
          <p:nvPr/>
        </p:nvSpPr>
        <p:spPr>
          <a:xfrm>
            <a:off x="838200" y="1825626"/>
            <a:ext cx="7005810" cy="37709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2400" b="1" dirty="0">
              <a:latin typeface="Segoe UI" panose="020B0502040204020203" pitchFamily="34" charset="0"/>
              <a:cs typeface="Segoe UI" panose="020B0502040204020203" pitchFamily="34" charset="0"/>
            </a:endParaRPr>
          </a:p>
        </p:txBody>
      </p:sp>
      <p:pic>
        <p:nvPicPr>
          <p:cNvPr id="6" name="Picture 5" descr="Logo&#10;&#10;Description automatically generated">
            <a:extLst>
              <a:ext uri="{FF2B5EF4-FFF2-40B4-BE49-F238E27FC236}">
                <a16:creationId xmlns:a16="http://schemas.microsoft.com/office/drawing/2014/main" id="{36881C25-3A41-3F4D-5C8D-2074EE322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7" name="TextBox 5">
            <a:extLst>
              <a:ext uri="{FF2B5EF4-FFF2-40B4-BE49-F238E27FC236}">
                <a16:creationId xmlns:a16="http://schemas.microsoft.com/office/drawing/2014/main" id="{D75FC542-CC68-1B6C-DD71-545A75B7E96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8" name="Slide Number Placeholder 5">
            <a:extLst>
              <a:ext uri="{FF2B5EF4-FFF2-40B4-BE49-F238E27FC236}">
                <a16:creationId xmlns:a16="http://schemas.microsoft.com/office/drawing/2014/main" id="{4357EB0D-C3A3-56D0-32D5-E17E870CE258}"/>
              </a:ext>
            </a:extLst>
          </p:cNvPr>
          <p:cNvSpPr>
            <a:spLocks noGrp="1"/>
          </p:cNvSpPr>
          <p:nvPr>
            <p:ph type="sldNum" sz="quarter" idx="12"/>
          </p:nvPr>
        </p:nvSpPr>
        <p:spPr>
          <a:xfrm>
            <a:off x="8610600" y="6356350"/>
            <a:ext cx="2743200" cy="365125"/>
          </a:xfrm>
        </p:spPr>
        <p:txBody>
          <a:bodyPr/>
          <a:lstStyle/>
          <a:p>
            <a:fld id="{C8F35010-364B-470B-BB6C-DCBBE63D2E54}" type="slidenum">
              <a:rPr lang="en-US" smtClean="0">
                <a:solidFill>
                  <a:schemeClr val="tx1"/>
                </a:solidFill>
              </a:rPr>
              <a:t>13</a:t>
            </a:fld>
            <a:endParaRPr lang="en-US" dirty="0">
              <a:solidFill>
                <a:schemeClr val="tx1"/>
              </a:solidFill>
            </a:endParaRPr>
          </a:p>
        </p:txBody>
      </p:sp>
      <p:pic>
        <p:nvPicPr>
          <p:cNvPr id="12" name="Picture 11">
            <a:extLst>
              <a:ext uri="{FF2B5EF4-FFF2-40B4-BE49-F238E27FC236}">
                <a16:creationId xmlns:a16="http://schemas.microsoft.com/office/drawing/2014/main" id="{BF19FB17-F765-ACF7-BE9E-72811D4D2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1111" y="1825625"/>
            <a:ext cx="3062689" cy="1722763"/>
          </a:xfrm>
          <a:prstGeom prst="rect">
            <a:avLst/>
          </a:prstGeom>
        </p:spPr>
      </p:pic>
      <p:pic>
        <p:nvPicPr>
          <p:cNvPr id="16" name="Picture 15">
            <a:extLst>
              <a:ext uri="{FF2B5EF4-FFF2-40B4-BE49-F238E27FC236}">
                <a16:creationId xmlns:a16="http://schemas.microsoft.com/office/drawing/2014/main" id="{18407998-AD45-C664-F641-DF83E2E95B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1111" y="3873807"/>
            <a:ext cx="3062689" cy="1722763"/>
          </a:xfrm>
          <a:prstGeom prst="rect">
            <a:avLst/>
          </a:prstGeom>
        </p:spPr>
      </p:pic>
    </p:spTree>
    <p:extLst>
      <p:ext uri="{BB962C8B-B14F-4D97-AF65-F5344CB8AC3E}">
        <p14:creationId xmlns:p14="http://schemas.microsoft.com/office/powerpoint/2010/main" val="3135285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6381-CA0B-0A87-7C4E-62EF94AD63C8}"/>
              </a:ext>
            </a:extLst>
          </p:cNvPr>
          <p:cNvSpPr>
            <a:spLocks noGrp="1"/>
          </p:cNvSpPr>
          <p:nvPr>
            <p:ph type="title"/>
          </p:nvPr>
        </p:nvSpPr>
        <p:spPr/>
        <p:txBody>
          <a:bodyPr/>
          <a:lstStyle/>
          <a:p>
            <a:r>
              <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Conclusion</a:t>
            </a:r>
            <a:r>
              <a:rPr lang="en-IN" dirty="0"/>
              <a:t> </a:t>
            </a:r>
          </a:p>
        </p:txBody>
      </p:sp>
      <p:sp>
        <p:nvSpPr>
          <p:cNvPr id="3" name="Content Placeholder 2">
            <a:extLst>
              <a:ext uri="{FF2B5EF4-FFF2-40B4-BE49-F238E27FC236}">
                <a16:creationId xmlns:a16="http://schemas.microsoft.com/office/drawing/2014/main" id="{58EAD1A4-584B-F77E-7C6A-F694BB7EF116}"/>
              </a:ext>
            </a:extLst>
          </p:cNvPr>
          <p:cNvSpPr>
            <a:spLocks noGrp="1"/>
          </p:cNvSpPr>
          <p:nvPr>
            <p:ph idx="1"/>
          </p:nvPr>
        </p:nvSpPr>
        <p:spPr/>
        <p:txBody>
          <a:bodyPr>
            <a:normAutofit lnSpcReduction="10000"/>
          </a:bodyPr>
          <a:lstStyle/>
          <a:p>
            <a:pPr algn="just"/>
            <a:r>
              <a:rPr lang="en-US" sz="2400" dirty="0">
                <a:latin typeface="Segoe UI" panose="020B0502040204020203" pitchFamily="34" charset="0"/>
                <a:cs typeface="Segoe UI" panose="020B0502040204020203" pitchFamily="34" charset="0"/>
              </a:rPr>
              <a:t>The E-Commerce Order Management System successfully demonstrates the design and implementation of a secure, scalable, and fully functional full-stack web application. By integrating Angular for the frontend, Spring Boot for the backend, MySQL for data persistence, Docker for containerization, and Azure for cloud deployment, the project reflects real-world enterprise development practices. This project strengthened our understanding of full-stack architecture, security, cloud deployment, and system integration, making it a strong foundation for professional software development</a:t>
            </a:r>
            <a:r>
              <a:rPr lang="en-US" sz="2400" dirty="0"/>
              <a:t>.</a:t>
            </a:r>
          </a:p>
          <a:p>
            <a:pPr algn="just"/>
            <a:r>
              <a:rPr lang="en-US" sz="2400" dirty="0">
                <a:latin typeface="Segoe UI" panose="020B0502040204020203" pitchFamily="34" charset="0"/>
                <a:cs typeface="Segoe UI" panose="020B0502040204020203" pitchFamily="34" charset="0"/>
              </a:rPr>
              <a:t>The system streamlines the entire order lifecycle through secure REST API integration and automated workflows. By reducing manual errors and providing reliable data tracking, it offers a scalable, efficient solution for modern digital businesses.</a:t>
            </a:r>
          </a:p>
          <a:p>
            <a:pPr algn="just"/>
            <a:endParaRPr lang="en-IN" dirty="0"/>
          </a:p>
        </p:txBody>
      </p:sp>
      <p:sp>
        <p:nvSpPr>
          <p:cNvPr id="4" name="Title 1">
            <a:extLst>
              <a:ext uri="{FF2B5EF4-FFF2-40B4-BE49-F238E27FC236}">
                <a16:creationId xmlns:a16="http://schemas.microsoft.com/office/drawing/2014/main" id="{5155E687-D9C4-3317-C257-B2318834DB73}"/>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endParaRPr lang="en-IN" dirty="0"/>
          </a:p>
        </p:txBody>
      </p:sp>
      <p:sp>
        <p:nvSpPr>
          <p:cNvPr id="6" name="Title 1">
            <a:extLst>
              <a:ext uri="{FF2B5EF4-FFF2-40B4-BE49-F238E27FC236}">
                <a16:creationId xmlns:a16="http://schemas.microsoft.com/office/drawing/2014/main" id="{A533A8CA-B94C-F5E0-F73F-6C0C1F5E90E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8E31559D-4912-C094-2AC5-69EF5CB1AA1A}"/>
              </a:ext>
            </a:extLst>
          </p:cNvPr>
          <p:cNvSpPr txBox="1">
            <a:spLocks/>
          </p:cNvSpPr>
          <p:nvPr/>
        </p:nvSpPr>
        <p:spPr>
          <a:xfrm>
            <a:off x="838200" y="1825626"/>
            <a:ext cx="7005810" cy="37709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2400" b="1" dirty="0">
              <a:latin typeface="Segoe UI" panose="020B0502040204020203" pitchFamily="34" charset="0"/>
              <a:cs typeface="Segoe UI" panose="020B0502040204020203" pitchFamily="34" charset="0"/>
            </a:endParaRPr>
          </a:p>
        </p:txBody>
      </p:sp>
      <p:pic>
        <p:nvPicPr>
          <p:cNvPr id="8" name="Picture 7" descr="Logo&#10;&#10;Description automatically generated">
            <a:extLst>
              <a:ext uri="{FF2B5EF4-FFF2-40B4-BE49-F238E27FC236}">
                <a16:creationId xmlns:a16="http://schemas.microsoft.com/office/drawing/2014/main" id="{CFCA836A-49DB-13B0-A8B9-2D6FE1565B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9" name="TextBox 5">
            <a:extLst>
              <a:ext uri="{FF2B5EF4-FFF2-40B4-BE49-F238E27FC236}">
                <a16:creationId xmlns:a16="http://schemas.microsoft.com/office/drawing/2014/main" id="{A9DFE0C6-E5B2-4557-7E6F-7A387440388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10" name="Slide Number Placeholder 5">
            <a:extLst>
              <a:ext uri="{FF2B5EF4-FFF2-40B4-BE49-F238E27FC236}">
                <a16:creationId xmlns:a16="http://schemas.microsoft.com/office/drawing/2014/main" id="{7FBCC01D-1A44-5AF1-7BAE-41AFE9AB6B9D}"/>
              </a:ext>
            </a:extLst>
          </p:cNvPr>
          <p:cNvSpPr>
            <a:spLocks noGrp="1"/>
          </p:cNvSpPr>
          <p:nvPr>
            <p:ph type="sldNum" sz="quarter" idx="12"/>
          </p:nvPr>
        </p:nvSpPr>
        <p:spPr>
          <a:xfrm>
            <a:off x="8610600" y="6356350"/>
            <a:ext cx="2743200" cy="365125"/>
          </a:xfrm>
        </p:spPr>
        <p:txBody>
          <a:bodyPr/>
          <a:lstStyle/>
          <a:p>
            <a:fld id="{C8F35010-364B-470B-BB6C-DCBBE63D2E54}" type="slidenum">
              <a:rPr lang="en-US" smtClean="0">
                <a:solidFill>
                  <a:schemeClr val="tx1"/>
                </a:solidFill>
              </a:rPr>
              <a:t>14</a:t>
            </a:fld>
            <a:endParaRPr lang="en-US" dirty="0">
              <a:solidFill>
                <a:schemeClr val="tx1"/>
              </a:solidFill>
            </a:endParaRPr>
          </a:p>
        </p:txBody>
      </p:sp>
    </p:spTree>
    <p:extLst>
      <p:ext uri="{BB962C8B-B14F-4D97-AF65-F5344CB8AC3E}">
        <p14:creationId xmlns:p14="http://schemas.microsoft.com/office/powerpoint/2010/main" val="3114599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15F06-E61B-6753-2DEF-2EFC786904C0}"/>
              </a:ext>
            </a:extLst>
          </p:cNvPr>
          <p:cNvSpPr>
            <a:spLocks noGrp="1"/>
          </p:cNvSpPr>
          <p:nvPr>
            <p:ph type="ctrTitle"/>
          </p:nvPr>
        </p:nvSpPr>
        <p:spPr/>
        <p:txBody>
          <a:bodyPr/>
          <a:lstStyle/>
          <a:p>
            <a:r>
              <a:rPr lang="en-US" b="1" dirty="0">
                <a:solidFill>
                  <a:srgbClr val="0187CC"/>
                </a:solidFill>
                <a:latin typeface="Segoe UI" panose="020B0502040204020203" pitchFamily="34" charset="0"/>
                <a:cs typeface="Segoe UI" panose="020B0502040204020203" pitchFamily="34" charset="0"/>
              </a:rPr>
              <a:t>THANK YOU</a:t>
            </a:r>
            <a:endParaRPr lang="en-IN" b="1" dirty="0">
              <a:solidFill>
                <a:srgbClr val="0187CC"/>
              </a:solidFill>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927441A1-446E-7780-8676-1F05BDDE885F}"/>
              </a:ext>
            </a:extLst>
          </p:cNvPr>
          <p:cNvSpPr>
            <a:spLocks noGrp="1"/>
          </p:cNvSpPr>
          <p:nvPr>
            <p:ph type="subTitle" idx="1"/>
          </p:nvPr>
        </p:nvSpPr>
        <p:spPr/>
        <p:txBody>
          <a:bodyPr/>
          <a:lstStyle/>
          <a:p>
            <a:endParaRPr lang="en-IN" dirty="0"/>
          </a:p>
        </p:txBody>
      </p:sp>
      <p:sp>
        <p:nvSpPr>
          <p:cNvPr id="4" name="Title 1">
            <a:extLst>
              <a:ext uri="{FF2B5EF4-FFF2-40B4-BE49-F238E27FC236}">
                <a16:creationId xmlns:a16="http://schemas.microsoft.com/office/drawing/2014/main" id="{312AD673-449B-A542-FFB3-1581A70CA992}"/>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dirty="0"/>
              <a:t> </a:t>
            </a:r>
          </a:p>
        </p:txBody>
      </p:sp>
      <p:sp>
        <p:nvSpPr>
          <p:cNvPr id="5" name="Content Placeholder 2">
            <a:extLst>
              <a:ext uri="{FF2B5EF4-FFF2-40B4-BE49-F238E27FC236}">
                <a16:creationId xmlns:a16="http://schemas.microsoft.com/office/drawing/2014/main" id="{EBC6EDAB-BAB9-C22F-C5FD-E450D8DD148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IN" dirty="0"/>
          </a:p>
        </p:txBody>
      </p:sp>
      <p:sp>
        <p:nvSpPr>
          <p:cNvPr id="6" name="Title 1">
            <a:extLst>
              <a:ext uri="{FF2B5EF4-FFF2-40B4-BE49-F238E27FC236}">
                <a16:creationId xmlns:a16="http://schemas.microsoft.com/office/drawing/2014/main" id="{A9C8760B-8923-FCD8-FC83-42A737DA8CC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endParaRPr lang="en-IN" dirty="0"/>
          </a:p>
        </p:txBody>
      </p:sp>
      <p:sp>
        <p:nvSpPr>
          <p:cNvPr id="7" name="Title 1">
            <a:extLst>
              <a:ext uri="{FF2B5EF4-FFF2-40B4-BE49-F238E27FC236}">
                <a16:creationId xmlns:a16="http://schemas.microsoft.com/office/drawing/2014/main" id="{2A21D1EF-8776-B6A1-5D7E-8DDE470BD22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b="1" dirty="0">
              <a:solidFill>
                <a:srgbClr val="0187CC"/>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8" name="Content Placeholder 2">
            <a:extLst>
              <a:ext uri="{FF2B5EF4-FFF2-40B4-BE49-F238E27FC236}">
                <a16:creationId xmlns:a16="http://schemas.microsoft.com/office/drawing/2014/main" id="{73BA5AC1-41C4-91C2-C8ED-B0BD4A0C6338}"/>
              </a:ext>
            </a:extLst>
          </p:cNvPr>
          <p:cNvSpPr txBox="1">
            <a:spLocks/>
          </p:cNvSpPr>
          <p:nvPr/>
        </p:nvSpPr>
        <p:spPr>
          <a:xfrm>
            <a:off x="838200" y="1825626"/>
            <a:ext cx="7005810" cy="37709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2400" b="1" dirty="0">
              <a:latin typeface="Segoe UI" panose="020B0502040204020203" pitchFamily="34" charset="0"/>
              <a:cs typeface="Segoe UI" panose="020B0502040204020203" pitchFamily="34" charset="0"/>
            </a:endParaRPr>
          </a:p>
        </p:txBody>
      </p:sp>
      <p:pic>
        <p:nvPicPr>
          <p:cNvPr id="9" name="Picture 8" descr="Logo&#10;&#10;Description automatically generated">
            <a:extLst>
              <a:ext uri="{FF2B5EF4-FFF2-40B4-BE49-F238E27FC236}">
                <a16:creationId xmlns:a16="http://schemas.microsoft.com/office/drawing/2014/main" id="{8096D955-D4B5-9613-9FC3-8036DE62CA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10" name="TextBox 5">
            <a:extLst>
              <a:ext uri="{FF2B5EF4-FFF2-40B4-BE49-F238E27FC236}">
                <a16:creationId xmlns:a16="http://schemas.microsoft.com/office/drawing/2014/main" id="{BB8DF39A-F9CA-3F44-BA48-04E483B419F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11" name="Slide Number Placeholder 5">
            <a:extLst>
              <a:ext uri="{FF2B5EF4-FFF2-40B4-BE49-F238E27FC236}">
                <a16:creationId xmlns:a16="http://schemas.microsoft.com/office/drawing/2014/main" id="{55507A92-3A17-7F7D-CA7B-A21BEDC2FC36}"/>
              </a:ext>
            </a:extLst>
          </p:cNvPr>
          <p:cNvSpPr>
            <a:spLocks noGrp="1"/>
          </p:cNvSpPr>
          <p:nvPr>
            <p:ph type="sldNum" sz="quarter" idx="12"/>
          </p:nvPr>
        </p:nvSpPr>
        <p:spPr>
          <a:xfrm>
            <a:off x="8610600" y="6356350"/>
            <a:ext cx="2743200" cy="365125"/>
          </a:xfrm>
        </p:spPr>
        <p:txBody>
          <a:bodyPr/>
          <a:lstStyle/>
          <a:p>
            <a:fld id="{C8F35010-364B-470B-BB6C-DCBBE63D2E54}" type="slidenum">
              <a:rPr lang="en-US" smtClean="0">
                <a:solidFill>
                  <a:schemeClr val="tx1"/>
                </a:solidFill>
              </a:rPr>
              <a:t>15</a:t>
            </a:fld>
            <a:endParaRPr lang="en-US" dirty="0">
              <a:solidFill>
                <a:schemeClr val="tx1"/>
              </a:solidFill>
            </a:endParaRPr>
          </a:p>
        </p:txBody>
      </p:sp>
    </p:spTree>
    <p:extLst>
      <p:ext uri="{BB962C8B-B14F-4D97-AF65-F5344CB8AC3E}">
        <p14:creationId xmlns:p14="http://schemas.microsoft.com/office/powerpoint/2010/main" val="194196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 dockstate="right" visibility="0" width="525" row="7">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E094329-4F88-44B1-B113-6389A04525DB}">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ABEC75B-FBE6-4322-988D-548B81785D52}">
  <we:reference id="wa200006000" version="1.2.1.0" store="en-US" storeType="OMEX"/>
  <we:alternateReferences>
    <we:reference id="wa200006000" version="1.2.1.0" store="wa20000600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3335</TotalTime>
  <Words>1026</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Arial</vt:lpstr>
      <vt:lpstr>Baskerville Old Face</vt:lpstr>
      <vt:lpstr>Calibri</vt:lpstr>
      <vt:lpstr>Calibri Light</vt:lpstr>
      <vt:lpstr>HK Grotesk</vt:lpstr>
      <vt:lpstr>HK Grotesk Light</vt:lpstr>
      <vt:lpstr>HK Grotesk Light Bold</vt:lpstr>
      <vt:lpstr>Segoe UI</vt:lpstr>
      <vt:lpstr>Office Theme</vt:lpstr>
      <vt:lpstr>PowerPoint Presentation</vt:lpstr>
      <vt:lpstr>Project Overview</vt:lpstr>
      <vt:lpstr>Technology Stack</vt:lpstr>
      <vt:lpstr>System Architecture</vt:lpstr>
      <vt:lpstr>Backend Deep Dive – Data Persistence</vt:lpstr>
      <vt:lpstr>Backend Deep Dive – DTO Pattern</vt:lpstr>
      <vt:lpstr>Frontend Deep Dive – Component Logic</vt:lpstr>
      <vt:lpstr>User Flow – Registration &amp; Authentication</vt:lpstr>
      <vt:lpstr>Core Feature – Order Lifecycle</vt:lpstr>
      <vt:lpstr>Admin Capabilities</vt:lpstr>
      <vt:lpstr>Validation</vt:lpstr>
      <vt:lpstr>Deployment</vt:lpstr>
      <vt:lpstr>Deployment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Swetaa s</cp:lastModifiedBy>
  <cp:revision>22</cp:revision>
  <dcterms:created xsi:type="dcterms:W3CDTF">2024-05-04T13:11:57Z</dcterms:created>
  <dcterms:modified xsi:type="dcterms:W3CDTF">2026-02-09T11:01:17Z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